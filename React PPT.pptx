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64CA10-3F9B-4D20-AD43-8FC3A1972C1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96ADB-5344-4508-8AA6-E175FBA6A324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403742" cy="851826"/>
          </a:xfrm>
        </p:spPr>
        <p:txBody>
          <a:bodyPr/>
          <a:lstStyle/>
          <a:p>
            <a:r>
              <a:rPr lang="en-US" dirty="0"/>
              <a:t>What is React.js?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52918"/>
            <a:ext cx="12192000" cy="4195481"/>
          </a:xfrm>
        </p:spPr>
        <p:txBody>
          <a:bodyPr>
            <a:normAutofit/>
          </a:bodyPr>
          <a:lstStyle/>
          <a:p>
            <a:r>
              <a:rPr lang="en-US" sz="2800" dirty="0"/>
              <a:t>React is a JavaScript library created by Facebook to create user interface(UI).</a:t>
            </a:r>
            <a:endParaRPr lang="en-US" sz="2800" dirty="0"/>
          </a:p>
          <a:p>
            <a:r>
              <a:rPr lang="en-US" sz="2800" dirty="0"/>
              <a:t>React is used to create single page applications.</a:t>
            </a:r>
            <a:endParaRPr lang="en-US" sz="2800" dirty="0"/>
          </a:p>
          <a:p>
            <a:r>
              <a:rPr lang="en-US" sz="2800" dirty="0"/>
              <a:t>React allows us to create reusable UI components.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Single Page Application?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1088688" cy="4195481"/>
          </a:xfrm>
        </p:spPr>
        <p:txBody>
          <a:bodyPr/>
          <a:lstStyle/>
          <a:p>
            <a:r>
              <a:rPr lang="en-US" dirty="0"/>
              <a:t>Single-page application also known as SPA in short, is an application that loads only a single document, and then updates the body content of the single document via JavaScript APIs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Benefits</a:t>
            </a:r>
            <a:endParaRPr lang="en-US" dirty="0"/>
          </a:p>
          <a:p>
            <a:r>
              <a:rPr lang="en-US" dirty="0"/>
              <a:t>It allows users to use websites without loading whole new pages, which results in performance gains and a more dynamic experience.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Component in React?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77302"/>
            <a:ext cx="12192000" cy="1400530"/>
          </a:xfrm>
        </p:spPr>
        <p:txBody>
          <a:bodyPr/>
          <a:lstStyle/>
          <a:p>
            <a:r>
              <a:rPr lang="en-US" dirty="0"/>
              <a:t>Components are independent and reusable bits of code. </a:t>
            </a:r>
            <a:endParaRPr lang="en-US" dirty="0"/>
          </a:p>
          <a:p>
            <a:r>
              <a:rPr lang="en-US" dirty="0"/>
              <a:t>They serve the same purpose as JavaScript functions, but work in isolation and return HTML.</a:t>
            </a:r>
            <a:endParaRPr lang="en-US" dirty="0"/>
          </a:p>
          <a:p>
            <a:r>
              <a:rPr lang="en-US" dirty="0"/>
              <a:t>Components come in two types, Class components and Function components.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1307" y="3717190"/>
            <a:ext cx="6452818" cy="2827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First React.js 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 installation steps-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Install Node.js and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Install VS code</a:t>
            </a:r>
            <a:endParaRPr lang="en-US" dirty="0"/>
          </a:p>
          <a:p>
            <a:r>
              <a:rPr lang="en-US" dirty="0"/>
              <a:t>Install React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npx</a:t>
            </a:r>
            <a:r>
              <a:rPr lang="en-US" dirty="0"/>
              <a:t> create-react-app my-app - deprecated/outdated</a:t>
            </a:r>
            <a:endParaRPr lang="en-US" dirty="0"/>
          </a:p>
          <a:p>
            <a:r>
              <a:rPr lang="en-US" dirty="0" err="1"/>
              <a:t>npm</a:t>
            </a:r>
            <a:r>
              <a:rPr lang="en-US" dirty="0"/>
              <a:t> create </a:t>
            </a:r>
            <a:r>
              <a:rPr lang="en-US" dirty="0" err="1"/>
              <a:t>vite@latest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314753" cy="973746"/>
          </a:xfrm>
        </p:spPr>
        <p:txBody>
          <a:bodyPr/>
          <a:lstStyle/>
          <a:p>
            <a:r>
              <a:rPr lang="en-US" dirty="0"/>
              <a:t>What is JSX?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JSX stands for JavaScript XML or Extension.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the help Of JSX we can write and add HTML-like code in React.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JSX converts HTML tags into React element with the help of babel library.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It’s not compulsory to use JSX.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Rules of writing JSX</a:t>
            </a:r>
            <a:endParaRPr lang="en-US" dirty="0"/>
          </a:p>
          <a:p>
            <a:r>
              <a:rPr lang="en-US" dirty="0"/>
              <a:t>Html must wrap into one top level element.</a:t>
            </a:r>
            <a:endParaRPr lang="en-US" dirty="0"/>
          </a:p>
          <a:p>
            <a:r>
              <a:rPr lang="en-US" dirty="0"/>
              <a:t>Elements must be closed.</a:t>
            </a:r>
            <a:endParaRPr lang="en-US" dirty="0"/>
          </a:p>
          <a:p>
            <a:r>
              <a:rPr lang="en-US" dirty="0"/>
              <a:t>Attribute class = </a:t>
            </a:r>
            <a:r>
              <a:rPr lang="en-US" dirty="0" err="1"/>
              <a:t>className</a:t>
            </a:r>
            <a:endParaRPr lang="en-US" dirty="0"/>
          </a:p>
          <a:p>
            <a:r>
              <a:rPr lang="en-US" dirty="0"/>
              <a:t>NO if else condition inside </a:t>
            </a:r>
            <a:r>
              <a:rPr lang="en-US" dirty="0" err="1"/>
              <a:t>jsx</a:t>
            </a:r>
            <a:r>
              <a:rPr lang="en-US" dirty="0"/>
              <a:t> but ternary operator is Okay.</a:t>
            </a:r>
            <a:endParaRPr lang="en-US" dirty="0"/>
          </a:p>
          <a:p>
            <a:r>
              <a:rPr lang="en-US" dirty="0"/>
              <a:t>JS expression in JSX must be wrapped in { }.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9605" y="568960"/>
            <a:ext cx="4358640" cy="492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JSX Syntax: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element = (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&lt;div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className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="container"&gt;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&lt;h1&gt;Hello, world!&lt;/h1&gt;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&lt;p&gt;This is JSX syntax.&lt;/p&gt;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&lt;/div&gt;</a:t>
            </a:r>
            <a:endParaRPr lang="en-IN" sz="3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);</a:t>
            </a:r>
            <a:endParaRPr lang="en-IN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429131" y="764506"/>
            <a:ext cx="7000568" cy="351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 Elements: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element = React.createElement('div',</a:t>
            </a:r>
            <a:endParaRPr lang="en-IN" sz="2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{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className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'container' },</a:t>
            </a:r>
            <a:endParaRPr lang="en-IN" sz="2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React.createElement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('h1', null, 'Hello, world!'),</a:t>
            </a:r>
            <a:endParaRPr lang="en-IN" sz="2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React.createElement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('p', null, 'This is JSX syntax.')</a:t>
            </a:r>
            <a:endParaRPr lang="en-IN" sz="2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);</a:t>
            </a:r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8496" y="690077"/>
            <a:ext cx="4681728" cy="5078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000" b="1" kern="100" dirty="0">
                <a:solidFill>
                  <a:srgbClr val="0D0D0D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Functional Components: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600" kern="100" dirty="0">
                <a:solidFill>
                  <a:srgbClr val="0D0D0D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React from 'react';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FunctionalComponent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(props) =&gt; {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return (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&lt;div&gt;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&lt;h1&gt;Hello, {props.name}!&lt;/h1&gt;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&lt;p&gt;This is a functional component.&lt;/p&gt;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&lt;/div&gt;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);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}; 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export default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FunctionalComponent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;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608064" y="690077"/>
            <a:ext cx="5242560" cy="5917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000" b="1" kern="100" dirty="0">
                <a:solidFill>
                  <a:srgbClr val="0D0D0D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Class-Based Components: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600" kern="100" dirty="0">
                <a:solidFill>
                  <a:srgbClr val="0D0D0D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React, { Component } from 'react';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ClassComponent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extends Component {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render() {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(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&lt;div&gt;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&lt;h1&gt;Hello, {this.props.name}!&lt;/h1&gt;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&lt;p&gt;This is a class-based component.&lt;/p&gt;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&lt;/div&gt;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);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export default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ClassComponent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;</a:t>
            </a:r>
            <a:endParaRPr lang="en-IN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1088688" cy="4195481"/>
          </a:xfrm>
        </p:spPr>
        <p:txBody>
          <a:bodyPr>
            <a:normAutofit/>
          </a:bodyPr>
          <a:lstStyle/>
          <a:p>
            <a:r>
              <a:rPr lang="en-IN" sz="2400" dirty="0">
                <a:effectLst/>
                <a:latin typeface="Segoe UI" panose="020B0502040204020203" charset="0"/>
                <a:ea typeface="Segoe UI" panose="020B0502040204020203" charset="0"/>
              </a:rPr>
              <a:t>Functional components are simpler and more lightweight compared to class-based components. </a:t>
            </a:r>
            <a:endParaRPr lang="en-IN" sz="2400" dirty="0">
              <a:effectLst/>
              <a:latin typeface="Segoe UI" panose="020B0502040204020203" charset="0"/>
              <a:ea typeface="Segoe UI" panose="020B0502040204020203" charset="0"/>
            </a:endParaRPr>
          </a:p>
          <a:p>
            <a:r>
              <a:rPr lang="en-IN" sz="2400" dirty="0">
                <a:effectLst/>
                <a:latin typeface="Segoe UI" panose="020B0502040204020203" charset="0"/>
                <a:ea typeface="Segoe UI" panose="020B0502040204020203" charset="0"/>
              </a:rPr>
              <a:t>They are recommended for writing presentational components that do not need to manage state or use lifecycle methods. </a:t>
            </a:r>
            <a:endParaRPr lang="en-IN" sz="2400" dirty="0">
              <a:effectLst/>
              <a:latin typeface="Segoe UI" panose="020B0502040204020203" charset="0"/>
              <a:ea typeface="Segoe UI" panose="020B0502040204020203" charset="0"/>
            </a:endParaRPr>
          </a:p>
          <a:p>
            <a:r>
              <a:rPr lang="en-IN" sz="2400" dirty="0">
                <a:effectLst/>
                <a:latin typeface="Segoe UI" panose="020B0502040204020203" charset="0"/>
                <a:ea typeface="Segoe UI" panose="020B0502040204020203" charset="0"/>
              </a:rPr>
              <a:t>With the introduction of React Hooks, functional components gained the ability to manage state and use lifecycle methods, making them even more versatile.</a:t>
            </a: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403742" cy="900594"/>
          </a:xfrm>
        </p:spPr>
        <p:txBody>
          <a:bodyPr/>
          <a:lstStyle/>
          <a:p>
            <a:r>
              <a:rPr lang="en-US" dirty="0"/>
              <a:t>PROPS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918000" cy="4195481"/>
          </a:xfrm>
        </p:spPr>
        <p:txBody>
          <a:bodyPr/>
          <a:lstStyle/>
          <a:p>
            <a:r>
              <a:rPr lang="en-US" dirty="0"/>
              <a:t>Props stands for Properties.</a:t>
            </a:r>
            <a:endParaRPr lang="en-US" dirty="0"/>
          </a:p>
          <a:p>
            <a:r>
              <a:rPr lang="en-US" dirty="0"/>
              <a:t>Props are used to transfer data from one component to another.</a:t>
            </a:r>
            <a:endParaRPr lang="en-US" dirty="0"/>
          </a:p>
          <a:p>
            <a:r>
              <a:rPr lang="en-US" dirty="0"/>
              <a:t>Props are read only.</a:t>
            </a:r>
            <a:endParaRPr lang="en-US" dirty="0"/>
          </a:p>
          <a:p>
            <a:r>
              <a:rPr lang="en-US" dirty="0"/>
              <a:t>Props are just like a function in JavaScript.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in React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978960" cy="4195481"/>
          </a:xfrm>
        </p:spPr>
        <p:txBody>
          <a:bodyPr/>
          <a:lstStyle/>
          <a:p>
            <a:r>
              <a:rPr lang="en-US" dirty="0"/>
              <a:t>The state is a built-in React object that is used to contain data or information about the component</a:t>
            </a:r>
            <a:endParaRPr lang="en-US" dirty="0"/>
          </a:p>
          <a:p>
            <a:r>
              <a:rPr lang="en-US" dirty="0"/>
              <a:t>A State can be modified based on user action or network changes.</a:t>
            </a:r>
            <a:endParaRPr lang="en-US" dirty="0"/>
          </a:p>
          <a:p>
            <a:r>
              <a:rPr lang="en-US" dirty="0" err="1"/>
              <a:t>Everytime</a:t>
            </a:r>
            <a:r>
              <a:rPr lang="en-US" dirty="0"/>
              <a:t> when the state of an object changes, React re-renders the component to the browser.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Rules of Hooks-</a:t>
            </a:r>
            <a:endParaRPr lang="en-US" sz="2800" dirty="0"/>
          </a:p>
          <a:p>
            <a:endParaRPr lang="en-US" dirty="0"/>
          </a:p>
          <a:p>
            <a:r>
              <a:rPr lang="en-US" dirty="0"/>
              <a:t>Must be written inside function component.</a:t>
            </a:r>
            <a:endParaRPr lang="en-US" dirty="0"/>
          </a:p>
          <a:p>
            <a:r>
              <a:rPr lang="en-US" dirty="0"/>
              <a:t>must be import in component.</a:t>
            </a:r>
            <a:endParaRPr lang="en-US" dirty="0"/>
          </a:p>
          <a:p>
            <a:r>
              <a:rPr lang="en-US" dirty="0"/>
              <a:t>must be call at top level  component</a:t>
            </a:r>
            <a:endParaRPr lang="en-US" dirty="0"/>
          </a:p>
          <a:p>
            <a:r>
              <a:rPr lang="en-US" dirty="0"/>
              <a:t>cannot be conditional.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useState</a:t>
            </a:r>
            <a:r>
              <a:rPr lang="en-US" dirty="0"/>
              <a:t> Hook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kern="100" dirty="0" err="1">
                <a:solidFill>
                  <a:srgbClr val="ECECEC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Times New Roman" panose="02020603050405020304" pitchFamily="18" charset="0"/>
              </a:rPr>
              <a:t>useState</a:t>
            </a:r>
            <a:r>
              <a:rPr lang="en-IN" sz="1800" kern="1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 allows functional components to manage state.</a:t>
            </a:r>
            <a:endParaRPr lang="en-IN" sz="1800" kern="100" dirty="0">
              <a:solidFill>
                <a:srgbClr val="ECECEC"/>
              </a:solidFill>
              <a:effectLst/>
              <a:latin typeface="Segoe UI" panose="020B0502040204020203" charset="0"/>
              <a:ea typeface="Segoe UI" panose="020B0502040204020203" charset="0"/>
              <a:cs typeface="Times New Roman" panose="02020603050405020304" pitchFamily="18" charset="0"/>
            </a:endParaRPr>
          </a:p>
          <a:p>
            <a:r>
              <a:rPr lang="en-IN" sz="1800" kern="1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It returns a stateful value and a function to update it, and it can be called multiple times to manage multiple state variables.</a:t>
            </a:r>
            <a:endParaRPr lang="en-IN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Rendering Lists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10905808" cy="800010"/>
          </a:xfrm>
        </p:spPr>
        <p:txBody>
          <a:bodyPr/>
          <a:lstStyle/>
          <a:p>
            <a:r>
              <a:rPr lang="en-IN" sz="1800" kern="100" dirty="0">
                <a:solidFill>
                  <a:schemeClr val="tx1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Rendering lists in React is a common task, and it can be done using the </a:t>
            </a:r>
            <a:r>
              <a:rPr lang="en-IN" sz="1800" b="1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Times New Roman" panose="02020603050405020304" pitchFamily="18" charset="0"/>
              </a:rPr>
              <a:t>map()</a:t>
            </a:r>
            <a:r>
              <a:rPr lang="en-IN" sz="1800" kern="100" dirty="0">
                <a:solidFill>
                  <a:schemeClr val="tx1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 method to iterate over an array of data and generate JSX elements for each item.</a:t>
            </a:r>
            <a:endParaRPr lang="en-IN" sz="1800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Keys and their importance</a:t>
            </a:r>
            <a:endParaRPr lang="en-IN" sz="9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52919"/>
            <a:ext cx="12192000" cy="911508"/>
          </a:xfrm>
        </p:spPr>
        <p:txBody>
          <a:bodyPr>
            <a:normAutofit fontScale="92500" lnSpcReduction="20000"/>
          </a:bodyPr>
          <a:lstStyle/>
          <a:p>
            <a:r>
              <a:rPr lang="en-IN" sz="1800" kern="100" dirty="0"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 Keys in React are special attributes that are used to </a:t>
            </a:r>
            <a:r>
              <a:rPr lang="en-IN" sz="1800" b="1" kern="100" dirty="0"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uniquely</a:t>
            </a:r>
            <a:r>
              <a:rPr lang="en-IN" sz="1800" kern="100" dirty="0"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 identify components or elements within a list. </a:t>
            </a:r>
            <a:endParaRPr lang="en-IN" sz="1800" kern="100" dirty="0">
              <a:effectLst/>
              <a:latin typeface="Segoe UI" panose="020B0502040204020203" charset="0"/>
              <a:ea typeface="Segoe UI" panose="020B0502040204020203" charset="0"/>
              <a:cs typeface="Times New Roman" panose="02020603050405020304" pitchFamily="18" charset="0"/>
            </a:endParaRPr>
          </a:p>
          <a:p>
            <a:r>
              <a:rPr lang="en-IN" sz="1800" kern="100" dirty="0"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They are essential for React's reconciliation algorithm, which is responsible for efficiently updating the UI based on changes in data or state.</a:t>
            </a:r>
            <a:endParaRPr lang="en-IN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What is List Rendering?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" y="2052955"/>
            <a:ext cx="11642090" cy="4195445"/>
          </a:xfrm>
        </p:spPr>
        <p:txBody>
          <a:bodyPr/>
          <a:p>
            <a:pPr marL="0" indent="457200">
              <a:buNone/>
            </a:pPr>
            <a:r>
              <a:rPr lang="en-US" altLang="en-US"/>
              <a:t>List Rendering means displaying a collection of data (like an array of names, products, or users) as multiple elements on the screen.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In React, we often use the JavaScript </a:t>
            </a:r>
            <a:r>
              <a:rPr lang="en-US" altLang="en-US" b="1"/>
              <a:t>.map()</a:t>
            </a:r>
            <a:r>
              <a:rPr lang="en-US" altLang="en-US"/>
              <a:t> method to loop through an array and render JSX for each item.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const fruits = ["Apple", "Mango", "Banana", "Orange"];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995" y="129540"/>
            <a:ext cx="11732260" cy="672909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  <a:buChar char="Ø"/>
            </a:pPr>
            <a:r>
              <a:rPr lang="en-US" altLang="en-US" b="1"/>
              <a:t>Adding Keys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Each element inside a list must have a unique key prop.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Keys help React identify which items have changed, been added, or removed.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const students = [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   { id: 1, name: "Onkar", city: "Pune" },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   { id: 2, name: "Neha", city: "Mumbai" },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   { id: 3, name: "Amit", city: "Delhi" },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 ];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/>
              <a:t>Rendering with a Separate Component</a:t>
            </a:r>
            <a:endParaRPr lang="en-US" altLang="en-US" b="1"/>
          </a:p>
          <a:p>
            <a:pPr marL="0" indent="457200">
              <a:buFont typeface="Wingdings" panose="05000000000000000000" charset="0"/>
              <a:buNone/>
            </a:pPr>
            <a:r>
              <a:rPr lang="en-US" altLang="en-US"/>
              <a:t>You can pass each item as a prop to another component — this improves reusability.</a:t>
            </a:r>
            <a:endParaRPr lang="en-US" altLang="en-US"/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return (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&lt;ul&gt;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  {students.map((s) =&gt; (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    &lt;Student key={s.id} name={s.name} city={s.city} /&gt;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  ))}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&lt;/ul&gt;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);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470" y="125095"/>
            <a:ext cx="9845040" cy="6123305"/>
          </a:xfrm>
        </p:spPr>
        <p:txBody>
          <a:bodyPr/>
          <a:p>
            <a:r>
              <a:rPr lang="en-US" altLang="en-US" b="1"/>
              <a:t>Conditional Rendering Inside Lists</a:t>
            </a:r>
            <a:endParaRPr lang="en-US" altLang="en-US" b="1"/>
          </a:p>
          <a:p>
            <a:pPr marL="0" indent="45720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{product.name} {product.available ? "✅" : "❌"}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useEffect hook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11088688" cy="4189386"/>
          </a:xfrm>
        </p:spPr>
        <p:txBody>
          <a:bodyPr/>
          <a:lstStyle/>
          <a:p>
            <a:r>
              <a:rPr lang="en-IN" sz="1800" b="1" dirty="0" err="1">
                <a:solidFill>
                  <a:srgbClr val="ECECEC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useEffect</a:t>
            </a:r>
            <a:r>
              <a:rPr lang="en-IN" sz="18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</a:rPr>
              <a:t> is used to perform side effects in functional components. </a:t>
            </a:r>
            <a:endParaRPr lang="en-IN" sz="1800" dirty="0">
              <a:solidFill>
                <a:srgbClr val="ECECEC"/>
              </a:solidFill>
              <a:effectLst/>
              <a:latin typeface="Segoe UI" panose="020B0502040204020203" charset="0"/>
              <a:ea typeface="Segoe UI" panose="020B0502040204020203" charset="0"/>
            </a:endParaRPr>
          </a:p>
          <a:p>
            <a:r>
              <a:rPr lang="en-IN" sz="18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</a:rPr>
              <a:t>It replaces lifecycle methods like </a:t>
            </a:r>
            <a:r>
              <a:rPr lang="en-IN" sz="1800" b="1" dirty="0" err="1">
                <a:solidFill>
                  <a:srgbClr val="ECECEC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componentDidMount</a:t>
            </a:r>
            <a:r>
              <a:rPr lang="en-IN" sz="18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</a:rPr>
              <a:t>, </a:t>
            </a:r>
            <a:r>
              <a:rPr lang="en-IN" sz="1800" b="1" dirty="0" err="1">
                <a:solidFill>
                  <a:srgbClr val="ECECEC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componentDidUpdate</a:t>
            </a:r>
            <a:r>
              <a:rPr lang="en-IN" sz="18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</a:rPr>
              <a:t>, and </a:t>
            </a:r>
            <a:r>
              <a:rPr lang="en-IN" sz="1800" b="1" dirty="0" err="1">
                <a:solidFill>
                  <a:srgbClr val="ECECEC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componentWillUnmount</a:t>
            </a:r>
            <a:r>
              <a:rPr lang="en-IN" sz="1800" b="1" dirty="0">
                <a:solidFill>
                  <a:srgbClr val="ECECEC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.</a:t>
            </a:r>
            <a:endParaRPr lang="en-IN" sz="1800" b="1" dirty="0">
              <a:solidFill>
                <a:srgbClr val="ECECEC"/>
              </a:solidFill>
              <a:effectLst/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endParaRPr lang="en-IN" sz="1800" b="1" dirty="0">
              <a:solidFill>
                <a:srgbClr val="ECECEC"/>
              </a:solidFill>
              <a:latin typeface="Courier New" panose="02070309020205020404" pitchFamily="49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800" b="1" kern="1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Effect function</a:t>
            </a:r>
            <a:r>
              <a:rPr lang="en-IN" sz="1800" kern="1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: A function that contains the side effect logic.</a:t>
            </a:r>
            <a:endParaRPr lang="en-IN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800" b="1" kern="1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Dependencies array (optional)</a:t>
            </a:r>
            <a:r>
              <a:rPr lang="en-IN" sz="1800" kern="100" dirty="0">
                <a:solidFill>
                  <a:srgbClr val="ECECEC"/>
                </a:solidFill>
                <a:effectLst/>
                <a:latin typeface="Segoe UI" panose="020B0502040204020203" charset="0"/>
                <a:ea typeface="Segoe UI" panose="020B0502040204020203" charset="0"/>
                <a:cs typeface="Times New Roman" panose="02020603050405020304" pitchFamily="18" charset="0"/>
              </a:rPr>
              <a:t>: An array of values (props or state) that the effect depends on. If any value in the dependencies array changes, the effect will be re-run.</a:t>
            </a:r>
            <a:endParaRPr lang="en-IN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30" y="130175"/>
            <a:ext cx="11807190" cy="6617970"/>
          </a:xfrm>
        </p:spPr>
        <p:txBody>
          <a:bodyPr/>
          <a:p>
            <a:r>
              <a:rPr lang="en-US" altLang="en-US"/>
              <a:t>Examples of side effects include:</a:t>
            </a:r>
            <a:endParaRPr lang="en-US" altLang="en-US"/>
          </a:p>
          <a:p>
            <a:r>
              <a:rPr lang="en-US" altLang="en-US"/>
              <a:t>Fetching data from an API</a:t>
            </a:r>
            <a:endParaRPr lang="en-US" altLang="en-US"/>
          </a:p>
          <a:p>
            <a:r>
              <a:rPr lang="en-US" altLang="en-US"/>
              <a:t>Setting up event listeners</a:t>
            </a:r>
            <a:endParaRPr lang="en-US" altLang="en-US"/>
          </a:p>
          <a:p>
            <a:r>
              <a:rPr lang="en-US" altLang="en-US"/>
              <a:t>Manipulating the DOM</a:t>
            </a:r>
            <a:endParaRPr lang="en-US" altLang="en-US"/>
          </a:p>
          <a:p>
            <a:r>
              <a:rPr lang="en-US" altLang="en-US"/>
              <a:t>Setting timers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Syntax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useEffect(() =&gt;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// code to run after render (side-effect)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return () =&gt;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cleanup code (optional)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};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}, [dependencies]);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42240"/>
            <a:ext cx="11857355" cy="6618605"/>
          </a:xfrm>
        </p:spPr>
        <p:txBody>
          <a:bodyPr/>
          <a:p>
            <a:r>
              <a:rPr lang="en-US" altLang="en-US"/>
              <a:t>Explanation of Parameters</a:t>
            </a:r>
            <a:endParaRPr lang="en-US" altLang="en-US"/>
          </a:p>
          <a:p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67360" y="750570"/>
          <a:ext cx="10871200" cy="1778000"/>
        </p:xfrm>
        <a:graphic>
          <a:graphicData uri="http://schemas.openxmlformats.org/drawingml/2006/table">
            <a:tbl>
              <a:tblPr/>
              <a:tblGrid>
                <a:gridCol w="5435600"/>
                <a:gridCol w="5435600"/>
              </a:tblGrid>
              <a:tr h="444500">
                <a:tc>
                  <a:txBody>
                    <a:bodyPr/>
                    <a:p>
                      <a:r>
                        <a:rPr sz="1100"/>
                        <a:t>Part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Description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100"/>
                        <a:t>() =&gt; {}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Callback function where you write your side effect logic.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100"/>
                        <a:t>return () =&gt; {}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(Optional) Cleanup function to remove listeners, timers, etc.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100"/>
                        <a:t>[dependencies]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Array that controls when the effect runs.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0830" y="130175"/>
            <a:ext cx="11807190" cy="661797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/>
              <a:t>Run on every render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useEffect(() =&gt;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console.log("Component rendered or updated");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});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Run only on mount (first render)</a:t>
            </a:r>
            <a:endParaRPr lang="en-US" altLang="en-US">
              <a:sym typeface="+mn-ea"/>
            </a:endParaRPr>
          </a:p>
          <a:p>
            <a:pPr marL="0" indent="457200">
              <a:buNone/>
            </a:pPr>
            <a:r>
              <a:rPr lang="en-US" altLang="en-US"/>
              <a:t>useEffect(() =&gt;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console.log("Component mounted");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}, []);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Run only when specific data changes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useEffect(() =&gt;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console.log("Count changed");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}, [count]);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179705"/>
            <a:ext cx="11844020" cy="6555105"/>
          </a:xfrm>
        </p:spPr>
        <p:txBody>
          <a:bodyPr/>
          <a:p>
            <a:r>
              <a:rPr lang="en-US" altLang="en-US"/>
              <a:t>Cleanup on unmount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useEffect(() =&gt;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const timer = setInterval(() =&gt;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console.log("Timer running");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}, 1000);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return () =&gt; clearInterval(timer); // cleanup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}, []);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API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Context API?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03312" y="2673330"/>
            <a:ext cx="104004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manage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share data between components without prop drilling.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object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hold the shared state.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Use Context API</a:t>
            </a:r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6111" y="2199127"/>
            <a:ext cx="962818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Context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MyContext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React.createContext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Context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Provider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wrap components that need access to the context.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MyContext.Provider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value={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sharedValue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}&gt; &lt;App /&gt; &lt;/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MyContext.Provider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 Context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context data using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useContext</a:t>
            </a:r>
            <a:r>
              <a:rPr lang="en-US" altLang="en-US" sz="1400" dirty="0">
                <a:latin typeface="Arial Unicode MS"/>
              </a:rPr>
              <a:t> 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Consumer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useContext</a:t>
            </a:r>
            <a:r>
              <a:rPr lang="en-IN" b="1" dirty="0"/>
              <a:t>?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581002"/>
            <a:ext cx="720267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Hook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consume context directly without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Consumer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Simplifies the process of accessing context values.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 value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Advantages of Context API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Eliminates </a:t>
            </a:r>
            <a:r>
              <a:rPr lang="en-US" b="1" dirty="0"/>
              <a:t>prop drilling</a:t>
            </a:r>
            <a:r>
              <a:rPr lang="en-US" dirty="0"/>
              <a:t>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manage shared state.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Integrates seamlessly with React hooks.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Context?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for </a:t>
            </a:r>
            <a:r>
              <a:rPr lang="en-US" b="1" dirty="0"/>
              <a:t>small to medium scale</a:t>
            </a:r>
            <a:r>
              <a:rPr lang="en-US" dirty="0"/>
              <a:t> state management.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larger projects, consider libraries like Redux or </a:t>
            </a:r>
            <a:r>
              <a:rPr lang="en-US" dirty="0" err="1"/>
              <a:t>Zustand</a:t>
            </a:r>
            <a:r>
              <a:rPr lang="en-US" dirty="0"/>
              <a:t>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452755"/>
            <a:ext cx="6182360" cy="771525"/>
          </a:xfrm>
        </p:spPr>
        <p:txBody>
          <a:bodyPr/>
          <a:p>
            <a:r>
              <a:rPr lang="en-US" altLang="en-US" b="1"/>
              <a:t>React Custom Hooks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765" y="1341755"/>
            <a:ext cx="11525250" cy="5516245"/>
          </a:xfrm>
        </p:spPr>
        <p:txBody>
          <a:bodyPr>
            <a:normAutofit/>
          </a:bodyPr>
          <a:p>
            <a:r>
              <a:rPr lang="en-US" altLang="en-US"/>
              <a:t>What are Custom Hooks?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Custom Hooks are reusable JavaScript functions in React that start 	with the word “use” and can call other hooks inside them.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They allow you to extract common logic from components into reusable functions.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Syntax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function useMyCustomHook()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// useState, useEffect, etc. can be used here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return something;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452755"/>
            <a:ext cx="9404350" cy="683260"/>
          </a:xfrm>
        </p:spPr>
        <p:txBody>
          <a:bodyPr/>
          <a:p>
            <a:r>
              <a:rPr lang="en-US" altLang="en-US" sz="3200"/>
              <a:t>Why use Custom Hooks?</a:t>
            </a:r>
            <a:endParaRPr lang="en-US" alt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30" y="1136650"/>
            <a:ext cx="11378565" cy="5535930"/>
          </a:xfrm>
        </p:spPr>
        <p:txBody>
          <a:bodyPr/>
          <a:p>
            <a:r>
              <a:rPr lang="en-US" altLang="en-US"/>
              <a:t>Reusability – Avoid repeating logic across multiple components.</a:t>
            </a:r>
            <a:endParaRPr lang="en-US" altLang="en-US"/>
          </a:p>
          <a:p>
            <a:r>
              <a:rPr lang="en-US" altLang="en-US"/>
              <a:t>Separation of concerns – Keeps components clean and focused on UI.</a:t>
            </a:r>
            <a:endParaRPr lang="en-US" altLang="en-US"/>
          </a:p>
          <a:p>
            <a:r>
              <a:rPr lang="en-US" altLang="en-US"/>
              <a:t>Better organization – Moves side effects or data-fetching logic into hooks.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Rules for Custom Hooks</a:t>
            </a:r>
            <a:endParaRPr lang="en-US" altLang="en-US"/>
          </a:p>
          <a:p>
            <a:r>
              <a:rPr lang="en-US" altLang="en-US"/>
              <a:t>The name must start with use.</a:t>
            </a:r>
            <a:endParaRPr lang="en-US" altLang="en-US"/>
          </a:p>
          <a:p>
            <a:r>
              <a:rPr lang="en-US" altLang="en-US"/>
              <a:t>Hooks must be called at the top level (not inside loops, conditions, or nested functions).</a:t>
            </a:r>
            <a:endParaRPr lang="en-US" altLang="en-US"/>
          </a:p>
          <a:p>
            <a:r>
              <a:rPr lang="en-US" altLang="en-US"/>
              <a:t>Hooks can call other hooks.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452755"/>
            <a:ext cx="9403715" cy="810895"/>
          </a:xfrm>
        </p:spPr>
        <p:txBody>
          <a:bodyPr/>
          <a:p>
            <a:r>
              <a:rPr lang="en-IN" altLang="en-US" b="1"/>
              <a:t>useRef Hook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" y="1263015"/>
            <a:ext cx="11544300" cy="5447665"/>
          </a:xfrm>
        </p:spPr>
        <p:txBody>
          <a:bodyPr>
            <a:normAutofit/>
          </a:bodyPr>
          <a:p>
            <a:r>
              <a:rPr lang="en-US" altLang="en-US"/>
              <a:t>useRef is a React Hook that returns a mutable ref object.</a:t>
            </a:r>
            <a:endParaRPr lang="en-US" altLang="en-US"/>
          </a:p>
          <a:p>
            <a:r>
              <a:rPr lang="en-US" altLang="en-US"/>
              <a:t>This object persists across re-renders without causing re-renders when its value changes.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const ref = useRef(initialValue);</a:t>
            </a:r>
            <a:endParaRPr lang="en-US" altLang="en-US"/>
          </a:p>
          <a:p>
            <a:r>
              <a:rPr lang="en-US" altLang="en-US"/>
              <a:t>The returned object looks like:</a:t>
            </a:r>
            <a:r>
              <a:rPr lang="en-IN" altLang="en-US"/>
              <a:t> </a:t>
            </a:r>
            <a:r>
              <a:rPr lang="en-US" altLang="en-US"/>
              <a:t>{ current: initialValue }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Why use useRef?</a:t>
            </a:r>
            <a:endParaRPr lang="en-US" altLang="en-US" b="1"/>
          </a:p>
          <a:p>
            <a:pPr marL="0" indent="457200">
              <a:buNone/>
            </a:pPr>
            <a:r>
              <a:rPr lang="en-US" altLang="en-US"/>
              <a:t>useRef is mainly used for:</a:t>
            </a:r>
            <a:endParaRPr lang="en-US" altLang="en-US"/>
          </a:p>
          <a:p>
            <a:pPr lvl="1">
              <a:buAutoNum type="arabicPeriod"/>
            </a:pPr>
            <a:r>
              <a:rPr lang="en-US" altLang="en-US"/>
              <a:t>Accessing and manipulating DOM elements directly.</a:t>
            </a:r>
            <a:endParaRPr lang="en-US" altLang="en-US"/>
          </a:p>
          <a:p>
            <a:pPr lvl="1">
              <a:buAutoNum type="arabicPeriod"/>
            </a:pPr>
            <a:r>
              <a:rPr lang="en-US" altLang="en-US"/>
              <a:t>Storing mutable values (data that doesn’t cause re-renders).</a:t>
            </a:r>
            <a:endParaRPr lang="en-US" altLang="en-US"/>
          </a:p>
          <a:p>
            <a:pPr lvl="1">
              <a:buAutoNum type="arabicPeriod"/>
            </a:pPr>
            <a:r>
              <a:rPr lang="en-US" altLang="en-US"/>
              <a:t>Keeping previous state values or timer IDs.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05" y="125095"/>
            <a:ext cx="11960860" cy="6630670"/>
          </a:xfrm>
        </p:spPr>
        <p:txBody>
          <a:bodyPr>
            <a:normAutofit/>
          </a:bodyPr>
          <a:p>
            <a:r>
              <a:rPr lang="en-US" altLang="en-US"/>
              <a:t>Example 1 – Accessing DOM Elements</a:t>
            </a:r>
            <a:endParaRPr lang="en-US" altLang="en-US"/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function InputFocus() {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const inputRef = useRef(null);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const handleFocus = () =&gt; {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inputRef.current.focus(); // Access DOM element directly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};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return (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&lt;div&gt;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  &lt;input ref={inputRef} type="text" placeholder="Click button to focus" /&gt;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  &lt;button onClick={handleFocus}&gt;Focus Input&lt;/button&gt;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&lt;/div&gt;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);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export default InputFocus;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05" y="125095"/>
            <a:ext cx="11960860" cy="6630670"/>
          </a:xfrm>
        </p:spPr>
        <p:txBody>
          <a:bodyPr>
            <a:normAutofit/>
          </a:bodyPr>
          <a:p>
            <a:r>
              <a:rPr lang="en-US" altLang="en-US"/>
              <a:t>Example 2 – Storing Values (without causing re-render)</a:t>
            </a:r>
            <a:endParaRPr lang="en-US" altLang="en-US"/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function RenderCount() {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const [count, setCount] = useState(0);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const renderCount = useRef(0);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renderCount.current += 1;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return (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&lt;div&gt;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  &lt;h2&gt;Count: {count}&lt;/h2&gt;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  &lt;h3&gt;Renders: {renderCount.current}&lt;/h3&gt;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  &lt;button onClick={() =&gt; setCount(count + 1)}&gt;Increment&lt;/button&gt;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  &lt;/div&gt;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 );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export default RenderCount;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l">
              <a:lnSpc>
                <a:spcPct val="50000"/>
              </a:lnSpc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5*139"/>
  <p:tag name="TABLE_ENDDRAG_RECT" val="36*156*855*13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8954</Words>
  <Application>WPS Presentation</Application>
  <PresentationFormat>Widescreen</PresentationFormat>
  <Paragraphs>367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Arial</vt:lpstr>
      <vt:lpstr>SimSun</vt:lpstr>
      <vt:lpstr>Wingdings</vt:lpstr>
      <vt:lpstr>Wingdings 3</vt:lpstr>
      <vt:lpstr>Arial</vt:lpstr>
      <vt:lpstr>Calibri</vt:lpstr>
      <vt:lpstr>Times New Roman</vt:lpstr>
      <vt:lpstr>Aptos</vt:lpstr>
      <vt:lpstr>Segoe UI</vt:lpstr>
      <vt:lpstr>Century Gothic</vt:lpstr>
      <vt:lpstr>Microsoft YaHei</vt:lpstr>
      <vt:lpstr>Arial Unicode MS</vt:lpstr>
      <vt:lpstr>Courier New</vt:lpstr>
      <vt:lpstr>Wingdings</vt:lpstr>
      <vt:lpstr>Arial Unicode MS</vt:lpstr>
      <vt:lpstr>Ion</vt:lpstr>
      <vt:lpstr>React</vt:lpstr>
      <vt:lpstr>What is React.js?</vt:lpstr>
      <vt:lpstr>What is Single Page Application?</vt:lpstr>
      <vt:lpstr>What is Component in React?</vt:lpstr>
      <vt:lpstr>Creating First React.js Application</vt:lpstr>
      <vt:lpstr>What is JSX?</vt:lpstr>
      <vt:lpstr>PowerPoint 演示文稿</vt:lpstr>
      <vt:lpstr>PowerPoint 演示文稿</vt:lpstr>
      <vt:lpstr>PowerPoint 演示文稿</vt:lpstr>
      <vt:lpstr>PROPS</vt:lpstr>
      <vt:lpstr>State in React</vt:lpstr>
      <vt:lpstr>Hooks</vt:lpstr>
      <vt:lpstr>useState Hook</vt:lpstr>
      <vt:lpstr>Rendering Lists</vt:lpstr>
      <vt:lpstr>Keys and their importance</vt:lpstr>
      <vt:lpstr>What is List Rendering?</vt:lpstr>
      <vt:lpstr>PowerPoint 演示文稿</vt:lpstr>
      <vt:lpstr>PowerPoint 演示文稿</vt:lpstr>
      <vt:lpstr>useEffect hook</vt:lpstr>
      <vt:lpstr>PowerPoint 演示文稿</vt:lpstr>
      <vt:lpstr>PowerPoint 演示文稿</vt:lpstr>
      <vt:lpstr>PowerPoint 演示文稿</vt:lpstr>
      <vt:lpstr>PowerPoint 演示文稿</vt:lpstr>
      <vt:lpstr>Context API</vt:lpstr>
      <vt:lpstr>Steps to Use Context API</vt:lpstr>
      <vt:lpstr>What is useContext? </vt:lpstr>
      <vt:lpstr>Advantages of Context API</vt:lpstr>
      <vt:lpstr>When to Use Context?</vt:lpstr>
      <vt:lpstr>React Custom Hooks</vt:lpstr>
      <vt:lpstr>Why use Custom Hooks?</vt:lpstr>
      <vt:lpstr>useRef Hook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Onkar B</dc:creator>
  <cp:lastModifiedBy>Onkar Bhawar</cp:lastModifiedBy>
  <cp:revision>16</cp:revision>
  <dcterms:created xsi:type="dcterms:W3CDTF">2024-11-19T04:57:00Z</dcterms:created>
  <dcterms:modified xsi:type="dcterms:W3CDTF">2025-11-13T13:00:55Z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1BF5A5A1B3684D26A3F0F259FF749962_12</vt:lpwstr>
  </property>
  <property fmtid="{D5CDD505-2E9C-101B-9397-08002B2CF9AE}" pid="3" name="KSOProductBuildVer">
    <vt:lpwstr>1033-12.2.0.23155</vt:lpwstr>
  </property>
</Properties>
</file>