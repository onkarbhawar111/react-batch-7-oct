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28" autoAdjust="0"/>
    <p:restoredTop sz="94660"/>
  </p:normalViewPr>
  <p:slideViewPr>
    <p:cSldViewPr snapToGrid="0">
      <p:cViewPr varScale="1">
        <p:scale>
          <a:sx n="79" d="100"/>
          <a:sy n="79" d="100"/>
        </p:scale>
        <p:origin x="37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8" Type="http://schemas.openxmlformats.org/officeDocument/2006/relationships/tableStyles" Target="tableStyles.xml"/><Relationship Id="rId27" Type="http://schemas.openxmlformats.org/officeDocument/2006/relationships/viewProps" Target="viewProps.xml"/><Relationship Id="rId26" Type="http://schemas.openxmlformats.org/officeDocument/2006/relationships/presProps" Target="presProps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4CA10-3F9B-4D20-AD43-8FC3A1972C17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96ADB-5344-4508-8AA6-E175FBA6A324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4CA10-3F9B-4D20-AD43-8FC3A1972C17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96ADB-5344-4508-8AA6-E175FBA6A324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4CA10-3F9B-4D20-AD43-8FC3A1972C17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96ADB-5344-4508-8AA6-E175FBA6A324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4CA10-3F9B-4D20-AD43-8FC3A1972C17}" type="datetimeFigureOut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96ADB-5344-4508-8AA6-E175FBA6A324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4CA10-3F9B-4D20-AD43-8FC3A1972C17}" type="datetimeFigureOut">
              <a:rPr lang="en-IN" smtClean="0"/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96ADB-5344-4508-8AA6-E175FBA6A324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4CA10-3F9B-4D20-AD43-8FC3A1972C17}" type="datetimeFigureOut">
              <a:rPr lang="en-IN" smtClean="0"/>
            </a:fld>
            <a:endParaRPr lang="en-IN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96ADB-5344-4508-8AA6-E175FBA6A324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4CA10-3F9B-4D20-AD43-8FC3A1972C17}" type="datetimeFigureOut">
              <a:rPr lang="en-IN" smtClean="0"/>
            </a:fld>
            <a:endParaRPr lang="en-IN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96ADB-5344-4508-8AA6-E175FBA6A324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4CA10-3F9B-4D20-AD43-8FC3A1972C17}" type="datetimeFigureOut">
              <a:rPr lang="en-IN" smtClean="0"/>
            </a:fld>
            <a:endParaRPr lang="en-IN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96ADB-5344-4508-8AA6-E175FBA6A324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4CA10-3F9B-4D20-AD43-8FC3A1972C17}" type="datetimeFigureOut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96ADB-5344-4508-8AA6-E175FBA6A324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4CA10-3F9B-4D20-AD43-8FC3A1972C17}" type="datetimeFigureOut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96ADB-5344-4508-8AA6-E175FBA6A324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4CA10-3F9B-4D20-AD43-8FC3A1972C17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96ADB-5344-4508-8AA6-E175FBA6A324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4CA10-3F9B-4D20-AD43-8FC3A1972C17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96ADB-5344-4508-8AA6-E175FBA6A324}" type="slidenum">
              <a:rPr lang="en-IN" smtClean="0"/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 panose="020B0604020202020204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  <a:endParaRPr lang="en-US" dirty="0"/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 panose="020B0604020202020204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4CA10-3F9B-4D20-AD43-8FC3A1972C17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96ADB-5344-4508-8AA6-E175FBA6A324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4CA10-3F9B-4D20-AD43-8FC3A1972C17}" type="datetimeFigureOut">
              <a:rPr lang="en-IN" smtClean="0"/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96ADB-5344-4508-8AA6-E175FBA6A324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4CA10-3F9B-4D20-AD43-8FC3A1972C17}" type="datetimeFigureOut">
              <a:rPr lang="en-IN" smtClean="0"/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96ADB-5344-4508-8AA6-E175FBA6A324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4CA10-3F9B-4D20-AD43-8FC3A1972C17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96ADB-5344-4508-8AA6-E175FBA6A324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4CA10-3F9B-4D20-AD43-8FC3A1972C17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96ADB-5344-4508-8AA6-E175FBA6A324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2" Type="http://schemas.openxmlformats.org/officeDocument/2006/relationships/theme" Target="../theme/theme1.xml"/><Relationship Id="rId21" Type="http://schemas.openxmlformats.org/officeDocument/2006/relationships/image" Target="../media/image4.png"/><Relationship Id="rId20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9" Type="http://schemas.openxmlformats.org/officeDocument/2006/relationships/image" Target="../media/image2.png"/><Relationship Id="rId18" Type="http://schemas.openxmlformats.org/officeDocument/2006/relationships/image" Target="../media/image1.png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>
            <a:fillRect/>
          </a:stretch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>
            <a:fillRect/>
          </a:stretch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>
            <a:fillRect/>
          </a:stretch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>
            <a:fillRect/>
          </a:stretch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864CA10-3F9B-4D20-AD43-8FC3A1972C17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696ADB-5344-4508-8AA6-E175FBA6A324}" type="slidenum">
              <a:rPr lang="en-IN" smtClean="0"/>
            </a:fld>
            <a:endParaRPr lang="en-IN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panose="05040102010807070707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panose="05040102010807070707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panose="05040102010807070707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panose="05040102010807070707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panose="05040102010807070707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571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panose="05040102010807070707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panose="05040102010807070707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panose="05040102010807070707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panose="05040102010807070707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React</a:t>
            </a:r>
            <a:endParaRPr lang="en-IN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6112" y="452718"/>
            <a:ext cx="9403742" cy="851826"/>
          </a:xfrm>
        </p:spPr>
        <p:txBody>
          <a:bodyPr/>
          <a:lstStyle/>
          <a:p>
            <a:r>
              <a:rPr lang="en-US" dirty="0"/>
              <a:t>What is React.js?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2052918"/>
            <a:ext cx="12192000" cy="4195481"/>
          </a:xfrm>
        </p:spPr>
        <p:txBody>
          <a:bodyPr>
            <a:normAutofit/>
          </a:bodyPr>
          <a:lstStyle/>
          <a:p>
            <a:r>
              <a:rPr lang="en-US" sz="2800" dirty="0"/>
              <a:t>React is a JavaScript library created by Facebook to create user interface(UI).</a:t>
            </a:r>
            <a:endParaRPr lang="en-US" sz="2800" dirty="0"/>
          </a:p>
          <a:p>
            <a:r>
              <a:rPr lang="en-US" sz="2800" dirty="0"/>
              <a:t>React is used to create single page applications.</a:t>
            </a:r>
            <a:endParaRPr lang="en-US" sz="2800" dirty="0"/>
          </a:p>
          <a:p>
            <a:r>
              <a:rPr lang="en-US" sz="2800" dirty="0"/>
              <a:t>React allows us to create reusable UI components.</a:t>
            </a:r>
            <a:endParaRPr lang="en-IN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Single Page Application?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03312" y="2052918"/>
            <a:ext cx="11088688" cy="4195481"/>
          </a:xfrm>
        </p:spPr>
        <p:txBody>
          <a:bodyPr/>
          <a:lstStyle/>
          <a:p>
            <a:r>
              <a:rPr lang="en-US" dirty="0"/>
              <a:t>Single-page application also known as SPA in short, is an application that loads only a single document, and then updates the body content of the single document via JavaScript APIs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Benefits</a:t>
            </a:r>
            <a:endParaRPr lang="en-US" dirty="0"/>
          </a:p>
          <a:p>
            <a:r>
              <a:rPr lang="en-US" dirty="0"/>
              <a:t>It allows users to use websites without loading whole new pages, which results in performance gains and a more dynamic experience.</a:t>
            </a:r>
            <a:endParaRPr lang="en-IN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Component in React?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2077302"/>
            <a:ext cx="12192000" cy="1400530"/>
          </a:xfrm>
        </p:spPr>
        <p:txBody>
          <a:bodyPr/>
          <a:lstStyle/>
          <a:p>
            <a:r>
              <a:rPr lang="en-US" dirty="0"/>
              <a:t>Components are independent and reusable bits of code. </a:t>
            </a:r>
            <a:endParaRPr lang="en-US" dirty="0"/>
          </a:p>
          <a:p>
            <a:r>
              <a:rPr lang="en-US" dirty="0"/>
              <a:t>They serve the same purpose as JavaScript functions, but work in isolation and return HTML.</a:t>
            </a:r>
            <a:endParaRPr lang="en-US" dirty="0"/>
          </a:p>
          <a:p>
            <a:r>
              <a:rPr lang="en-US" dirty="0"/>
              <a:t>Components come in two types, Class components and Function components.</a:t>
            </a:r>
            <a:endParaRPr lang="en-IN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1307" y="3717190"/>
            <a:ext cx="6452818" cy="2827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First React.js Application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React installation steps-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Install Node.js and </a:t>
            </a:r>
            <a:r>
              <a:rPr lang="en-US" dirty="0" err="1"/>
              <a:t>npm</a:t>
            </a:r>
            <a:endParaRPr lang="en-US" dirty="0"/>
          </a:p>
          <a:p>
            <a:r>
              <a:rPr lang="en-US" dirty="0"/>
              <a:t>Install VS code</a:t>
            </a:r>
            <a:endParaRPr lang="en-US" dirty="0"/>
          </a:p>
          <a:p>
            <a:r>
              <a:rPr lang="en-US" dirty="0"/>
              <a:t>Install React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npx</a:t>
            </a:r>
            <a:r>
              <a:rPr lang="en-US" dirty="0"/>
              <a:t> create-react-app my-app - deprecated/outdated</a:t>
            </a:r>
            <a:endParaRPr lang="en-US" dirty="0"/>
          </a:p>
          <a:p>
            <a:r>
              <a:rPr lang="en-US" dirty="0" err="1"/>
              <a:t>npm</a:t>
            </a:r>
            <a:r>
              <a:rPr lang="en-US" dirty="0"/>
              <a:t> create </a:t>
            </a:r>
            <a:r>
              <a:rPr lang="en-US" dirty="0" err="1"/>
              <a:t>vite@latest</a:t>
            </a:r>
            <a:endParaRPr lang="en-US" dirty="0"/>
          </a:p>
          <a:p>
            <a:pPr marL="0" indent="0">
              <a:buNone/>
            </a:pPr>
            <a:endParaRPr lang="en-IN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314753" cy="973746"/>
          </a:xfrm>
        </p:spPr>
        <p:txBody>
          <a:bodyPr/>
          <a:lstStyle/>
          <a:p>
            <a:r>
              <a:rPr lang="en-US" dirty="0"/>
              <a:t>What is JSX?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JSX stands for JavaScript XML or Extension.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With the help Of JSX we can write and add HTML-like code in React.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JSX converts HTML tags into React element with the help of babel library.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It’s not compulsory to use JSX.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Rules of writing JSX</a:t>
            </a:r>
            <a:endParaRPr lang="en-US" dirty="0"/>
          </a:p>
          <a:p>
            <a:r>
              <a:rPr lang="en-US" dirty="0"/>
              <a:t>Html must wrap into one top level element.</a:t>
            </a:r>
            <a:endParaRPr lang="en-US" dirty="0"/>
          </a:p>
          <a:p>
            <a:r>
              <a:rPr lang="en-US" dirty="0"/>
              <a:t>Elements must be closed.</a:t>
            </a:r>
            <a:endParaRPr lang="en-US" dirty="0"/>
          </a:p>
          <a:p>
            <a:r>
              <a:rPr lang="en-US" dirty="0"/>
              <a:t>Attribute class = </a:t>
            </a:r>
            <a:r>
              <a:rPr lang="en-US" dirty="0" err="1"/>
              <a:t>className</a:t>
            </a:r>
            <a:endParaRPr lang="en-US" dirty="0"/>
          </a:p>
          <a:p>
            <a:r>
              <a:rPr lang="en-US" dirty="0"/>
              <a:t>NO if else condition inside </a:t>
            </a:r>
            <a:r>
              <a:rPr lang="en-US" dirty="0" err="1"/>
              <a:t>jsx</a:t>
            </a:r>
            <a:r>
              <a:rPr lang="en-US" dirty="0"/>
              <a:t> but ternary operator is Okay.</a:t>
            </a:r>
            <a:endParaRPr lang="en-US" dirty="0"/>
          </a:p>
          <a:p>
            <a:r>
              <a:rPr lang="en-US" dirty="0"/>
              <a:t>JS expression in JSX must be wrapped in { }.</a:t>
            </a:r>
            <a:endParaRPr lang="en-IN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649605" y="568960"/>
            <a:ext cx="4358640" cy="4928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JSX Syntax:</a:t>
            </a:r>
            <a:endParaRPr lang="en-IN" sz="32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en-IN" sz="32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2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element = (</a:t>
            </a:r>
            <a:endParaRPr lang="en-IN" sz="32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 &lt;div </a:t>
            </a:r>
            <a:r>
              <a:rPr lang="en-IN" sz="2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className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="container"&gt;</a:t>
            </a:r>
            <a:endParaRPr lang="en-IN" sz="32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   &lt;h1&gt;Hello, world!&lt;/h1&gt;</a:t>
            </a:r>
            <a:endParaRPr lang="en-IN" sz="32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   &lt;p&gt;This is JSX syntax.&lt;/p&gt;</a:t>
            </a:r>
            <a:endParaRPr lang="en-IN" sz="32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 &lt;/div&gt;</a:t>
            </a:r>
            <a:endParaRPr lang="en-IN" sz="32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);</a:t>
            </a:r>
            <a:endParaRPr lang="en-IN" sz="2800" dirty="0"/>
          </a:p>
        </p:txBody>
      </p:sp>
      <p:sp>
        <p:nvSpPr>
          <p:cNvPr id="7" name="TextBox 6"/>
          <p:cNvSpPr txBox="1"/>
          <p:nvPr/>
        </p:nvSpPr>
        <p:spPr>
          <a:xfrm>
            <a:off x="5429131" y="764506"/>
            <a:ext cx="7000568" cy="3512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React Elements:</a:t>
            </a:r>
            <a:endParaRPr lang="en-IN" sz="24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endParaRPr lang="en-IN" sz="28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24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element = React.createElement('div',</a:t>
            </a:r>
            <a:endParaRPr lang="en-IN" sz="28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 { </a:t>
            </a:r>
            <a:r>
              <a:rPr lang="en-IN" sz="24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className</a:t>
            </a: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: 'container' },</a:t>
            </a:r>
            <a:endParaRPr lang="en-IN" sz="28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IN" sz="24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React.createElement</a:t>
            </a: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('h1', null, 'Hello, world!'),</a:t>
            </a:r>
            <a:endParaRPr lang="en-IN" sz="28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IN" sz="24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React.createElement</a:t>
            </a: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('p', null, 'This is JSX syntax.')</a:t>
            </a:r>
            <a:endParaRPr lang="en-IN" sz="28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4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);</a:t>
            </a:r>
            <a:endParaRPr lang="en-IN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158496" y="690077"/>
            <a:ext cx="4681728" cy="50788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IN" sz="2000" b="1" kern="100" dirty="0">
                <a:solidFill>
                  <a:srgbClr val="0D0D0D"/>
                </a:solidFill>
                <a:effectLst/>
                <a:latin typeface="Segoe UI" panose="020B0502040204020203" charset="0"/>
                <a:ea typeface="Segoe UI" panose="020B0502040204020203" charset="0"/>
                <a:cs typeface="Times New Roman" panose="02020603050405020304" pitchFamily="18" charset="0"/>
              </a:rPr>
              <a:t>Functional Components:</a:t>
            </a:r>
            <a:endParaRPr lang="en-IN" sz="20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br>
              <a:rPr lang="en-IN" sz="1600" kern="100" dirty="0">
                <a:solidFill>
                  <a:srgbClr val="0D0D0D"/>
                </a:solidFill>
                <a:effectLst/>
                <a:latin typeface="Segoe UI" panose="020B0502040204020203" charset="0"/>
                <a:ea typeface="Segoe UI" panose="020B0502040204020203" charset="0"/>
                <a:cs typeface="Times New Roman" panose="02020603050405020304" pitchFamily="18" charset="0"/>
              </a:rPr>
            </a:br>
            <a:r>
              <a:rPr lang="en-IN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import React from 'react';</a:t>
            </a:r>
            <a:endParaRPr lang="en-IN" sz="20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en-IN" sz="20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IN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IN" sz="1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FunctionalComponent</a:t>
            </a:r>
            <a:r>
              <a:rPr lang="en-IN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= (props) =&gt; {</a:t>
            </a:r>
            <a:endParaRPr lang="en-IN" sz="20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 return (</a:t>
            </a:r>
            <a:endParaRPr lang="en-IN" sz="20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   &lt;div&gt;</a:t>
            </a:r>
            <a:endParaRPr lang="en-IN" sz="20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     &lt;h1&gt;Hello, {props.name}!&lt;/h1&gt;</a:t>
            </a:r>
            <a:endParaRPr lang="en-IN" sz="20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     &lt;p&gt;This is a functional component.&lt;/p&gt;</a:t>
            </a:r>
            <a:endParaRPr lang="en-IN" sz="20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   &lt;/div&gt;</a:t>
            </a:r>
            <a:endParaRPr lang="en-IN" sz="20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 );</a:t>
            </a:r>
            <a:endParaRPr lang="en-IN" sz="20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}; </a:t>
            </a:r>
            <a:endParaRPr lang="en-IN" sz="20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export default </a:t>
            </a:r>
            <a:r>
              <a:rPr lang="en-IN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FunctionalComponent</a:t>
            </a:r>
            <a:r>
              <a:rPr lang="en-IN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;</a:t>
            </a:r>
            <a:endParaRPr lang="en-IN" dirty="0"/>
          </a:p>
        </p:txBody>
      </p:sp>
      <p:sp>
        <p:nvSpPr>
          <p:cNvPr id="9" name="TextBox 8"/>
          <p:cNvSpPr txBox="1"/>
          <p:nvPr/>
        </p:nvSpPr>
        <p:spPr>
          <a:xfrm>
            <a:off x="6608064" y="690077"/>
            <a:ext cx="5242560" cy="59178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IN" sz="2000" b="1" kern="100" dirty="0">
                <a:solidFill>
                  <a:srgbClr val="0D0D0D"/>
                </a:solidFill>
                <a:effectLst/>
                <a:latin typeface="Segoe UI" panose="020B0502040204020203" charset="0"/>
                <a:ea typeface="Segoe UI" panose="020B0502040204020203" charset="0"/>
                <a:cs typeface="Times New Roman" panose="02020603050405020304" pitchFamily="18" charset="0"/>
              </a:rPr>
              <a:t>Class-Based Components:</a:t>
            </a:r>
            <a:endParaRPr lang="en-IN" sz="20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br>
              <a:rPr lang="en-IN" sz="1600" kern="100" dirty="0">
                <a:solidFill>
                  <a:srgbClr val="0D0D0D"/>
                </a:solidFill>
                <a:effectLst/>
                <a:latin typeface="Segoe UI" panose="020B0502040204020203" charset="0"/>
                <a:ea typeface="Segoe UI" panose="020B0502040204020203" charset="0"/>
                <a:cs typeface="Times New Roman" panose="02020603050405020304" pitchFamily="18" charset="0"/>
              </a:rPr>
            </a:br>
            <a:r>
              <a:rPr lang="en-IN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import React, { Component } from 'react';</a:t>
            </a:r>
            <a:endParaRPr lang="en-IN" sz="20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en-IN" sz="20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class </a:t>
            </a:r>
            <a:r>
              <a:rPr lang="en-IN" sz="1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ClassComponent</a:t>
            </a:r>
            <a:r>
              <a:rPr lang="en-IN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extends Component {</a:t>
            </a:r>
            <a:endParaRPr lang="en-IN" sz="20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 render() {</a:t>
            </a:r>
            <a:endParaRPr lang="en-IN" sz="20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   return (</a:t>
            </a:r>
            <a:endParaRPr lang="en-IN" sz="20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     &lt;div&gt;</a:t>
            </a:r>
            <a:endParaRPr lang="en-IN" sz="20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       &lt;h1&gt;Hello, {this.props.name}!&lt;/h1&gt;</a:t>
            </a:r>
            <a:endParaRPr lang="en-IN" sz="20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       &lt;p&gt;This is a class-based component.&lt;/p&gt;</a:t>
            </a:r>
            <a:endParaRPr lang="en-IN" sz="20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     &lt;/div&gt;</a:t>
            </a:r>
            <a:endParaRPr lang="en-IN" sz="20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   );</a:t>
            </a:r>
            <a:endParaRPr lang="en-IN" sz="20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 }</a:t>
            </a:r>
            <a:endParaRPr lang="en-IN" sz="20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  <a:endParaRPr lang="en-IN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export default </a:t>
            </a:r>
            <a:r>
              <a:rPr lang="en-IN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ClassComponent</a:t>
            </a:r>
            <a:r>
              <a:rPr lang="en-IN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;</a:t>
            </a:r>
            <a:endParaRPr lang="en-IN" sz="20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03312" y="2052918"/>
            <a:ext cx="11088688" cy="4195481"/>
          </a:xfrm>
        </p:spPr>
        <p:txBody>
          <a:bodyPr>
            <a:normAutofit/>
          </a:bodyPr>
          <a:lstStyle/>
          <a:p>
            <a:r>
              <a:rPr lang="en-IN" sz="2400" dirty="0">
                <a:effectLst/>
                <a:latin typeface="Segoe UI" panose="020B0502040204020203" charset="0"/>
                <a:ea typeface="Segoe UI" panose="020B0502040204020203" charset="0"/>
              </a:rPr>
              <a:t>Functional components are simpler and more lightweight compared to class-based components. </a:t>
            </a:r>
            <a:endParaRPr lang="en-IN" sz="2400" dirty="0">
              <a:effectLst/>
              <a:latin typeface="Segoe UI" panose="020B0502040204020203" charset="0"/>
              <a:ea typeface="Segoe UI" panose="020B0502040204020203" charset="0"/>
            </a:endParaRPr>
          </a:p>
          <a:p>
            <a:r>
              <a:rPr lang="en-IN" sz="2400" dirty="0">
                <a:effectLst/>
                <a:latin typeface="Segoe UI" panose="020B0502040204020203" charset="0"/>
                <a:ea typeface="Segoe UI" panose="020B0502040204020203" charset="0"/>
              </a:rPr>
              <a:t>They are recommended for writing presentational components that do not need to manage state or use lifecycle methods. </a:t>
            </a:r>
            <a:endParaRPr lang="en-IN" sz="2400" dirty="0">
              <a:effectLst/>
              <a:latin typeface="Segoe UI" panose="020B0502040204020203" charset="0"/>
              <a:ea typeface="Segoe UI" panose="020B0502040204020203" charset="0"/>
            </a:endParaRPr>
          </a:p>
          <a:p>
            <a:r>
              <a:rPr lang="en-IN" sz="2400" dirty="0">
                <a:effectLst/>
                <a:latin typeface="Segoe UI" panose="020B0502040204020203" charset="0"/>
                <a:ea typeface="Segoe UI" panose="020B0502040204020203" charset="0"/>
              </a:rPr>
              <a:t>With the introduction of React Hooks, functional components gained the ability to manage state and use lifecycle methods, making them even more versatile.</a:t>
            </a:r>
            <a:endParaRPr lang="en-IN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6112" y="452718"/>
            <a:ext cx="9403742" cy="900594"/>
          </a:xfrm>
        </p:spPr>
        <p:txBody>
          <a:bodyPr/>
          <a:lstStyle/>
          <a:p>
            <a:r>
              <a:rPr lang="en-US" dirty="0"/>
              <a:t>PROPS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03312" y="2052918"/>
            <a:ext cx="10918000" cy="4195481"/>
          </a:xfrm>
        </p:spPr>
        <p:txBody>
          <a:bodyPr/>
          <a:lstStyle/>
          <a:p>
            <a:r>
              <a:rPr lang="en-US" dirty="0"/>
              <a:t>Props stands for Properties.</a:t>
            </a:r>
            <a:endParaRPr lang="en-US" dirty="0"/>
          </a:p>
          <a:p>
            <a:r>
              <a:rPr lang="en-US" dirty="0"/>
              <a:t>Props are used to transfer data from one component to another.</a:t>
            </a:r>
            <a:endParaRPr lang="en-US" dirty="0"/>
          </a:p>
          <a:p>
            <a:r>
              <a:rPr lang="en-US" dirty="0"/>
              <a:t>Props are read only.</a:t>
            </a:r>
            <a:endParaRPr lang="en-US" dirty="0"/>
          </a:p>
          <a:p>
            <a:r>
              <a:rPr lang="en-US" dirty="0"/>
              <a:t>Props are just like a function in JavaScript.</a:t>
            </a:r>
            <a:endParaRPr lang="en-IN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in React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03312" y="2052918"/>
            <a:ext cx="10978960" cy="4195481"/>
          </a:xfrm>
        </p:spPr>
        <p:txBody>
          <a:bodyPr/>
          <a:lstStyle/>
          <a:p>
            <a:r>
              <a:rPr lang="en-US" dirty="0"/>
              <a:t>The state is a built-in React object that is used to contain data or information about the component</a:t>
            </a:r>
            <a:endParaRPr lang="en-US" dirty="0"/>
          </a:p>
          <a:p>
            <a:r>
              <a:rPr lang="en-US" dirty="0"/>
              <a:t>A State can be modified based on user action or network changes.</a:t>
            </a:r>
            <a:endParaRPr lang="en-US" dirty="0"/>
          </a:p>
          <a:p>
            <a:r>
              <a:rPr lang="en-US" dirty="0" err="1"/>
              <a:t>Everytime</a:t>
            </a:r>
            <a:r>
              <a:rPr lang="en-US" dirty="0"/>
              <a:t> when the state of an object changes, React re-renders the component to the browser.</a:t>
            </a:r>
            <a:endParaRPr lang="en-IN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Hooks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Rules of Hooks-</a:t>
            </a:r>
            <a:endParaRPr lang="en-US" sz="2800" dirty="0"/>
          </a:p>
          <a:p>
            <a:endParaRPr lang="en-US" dirty="0"/>
          </a:p>
          <a:p>
            <a:r>
              <a:rPr lang="en-US" dirty="0"/>
              <a:t>Must be written inside function component.</a:t>
            </a:r>
            <a:endParaRPr lang="en-US" dirty="0"/>
          </a:p>
          <a:p>
            <a:r>
              <a:rPr lang="en-US" dirty="0"/>
              <a:t>must be import in component.</a:t>
            </a:r>
            <a:endParaRPr lang="en-US" dirty="0"/>
          </a:p>
          <a:p>
            <a:r>
              <a:rPr lang="en-US" dirty="0"/>
              <a:t>must be call at top level  component</a:t>
            </a:r>
            <a:endParaRPr lang="en-US" dirty="0"/>
          </a:p>
          <a:p>
            <a:r>
              <a:rPr lang="en-US" dirty="0"/>
              <a:t>cannot be conditional.</a:t>
            </a:r>
            <a:endParaRPr lang="en-IN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useState</a:t>
            </a:r>
            <a:r>
              <a:rPr lang="en-US" dirty="0"/>
              <a:t> Hook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1800" b="1" kern="100" dirty="0" err="1">
                <a:solidFill>
                  <a:srgbClr val="ECECEC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  <a:cs typeface="Times New Roman" panose="02020603050405020304" pitchFamily="18" charset="0"/>
              </a:rPr>
              <a:t>useState</a:t>
            </a:r>
            <a:r>
              <a:rPr lang="en-IN" sz="1800" kern="100" dirty="0">
                <a:solidFill>
                  <a:srgbClr val="ECECEC"/>
                </a:solidFill>
                <a:effectLst/>
                <a:latin typeface="Segoe UI" panose="020B0502040204020203" charset="0"/>
                <a:ea typeface="Segoe UI" panose="020B0502040204020203" charset="0"/>
                <a:cs typeface="Times New Roman" panose="02020603050405020304" pitchFamily="18" charset="0"/>
              </a:rPr>
              <a:t> allows functional components to manage state.</a:t>
            </a:r>
            <a:endParaRPr lang="en-IN" sz="1800" kern="100" dirty="0">
              <a:solidFill>
                <a:srgbClr val="ECECEC"/>
              </a:solidFill>
              <a:effectLst/>
              <a:latin typeface="Segoe UI" panose="020B0502040204020203" charset="0"/>
              <a:ea typeface="Segoe UI" panose="020B0502040204020203" charset="0"/>
              <a:cs typeface="Times New Roman" panose="02020603050405020304" pitchFamily="18" charset="0"/>
            </a:endParaRPr>
          </a:p>
          <a:p>
            <a:r>
              <a:rPr lang="en-IN" sz="1800" kern="100" dirty="0">
                <a:solidFill>
                  <a:srgbClr val="ECECEC"/>
                </a:solidFill>
                <a:effectLst/>
                <a:latin typeface="Segoe UI" panose="020B0502040204020203" charset="0"/>
                <a:ea typeface="Segoe UI" panose="020B0502040204020203" charset="0"/>
                <a:cs typeface="Times New Roman" panose="02020603050405020304" pitchFamily="18" charset="0"/>
              </a:rPr>
              <a:t>It returns a stateful value and a function to update it, and it can be called multiple times to manage multiple state variables.</a:t>
            </a:r>
            <a:endParaRPr lang="en-IN" sz="18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5400" b="1" dirty="0"/>
              <a:t>Rendering Lists</a:t>
            </a:r>
            <a:endParaRPr lang="en-US" sz="54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03312" y="2052919"/>
            <a:ext cx="10905808" cy="800010"/>
          </a:xfrm>
        </p:spPr>
        <p:txBody>
          <a:bodyPr/>
          <a:lstStyle/>
          <a:p>
            <a:r>
              <a:rPr lang="en-IN" sz="1800" kern="100" dirty="0">
                <a:solidFill>
                  <a:schemeClr val="tx1"/>
                </a:solidFill>
                <a:effectLst/>
                <a:latin typeface="Segoe UI" panose="020B0502040204020203" charset="0"/>
                <a:ea typeface="Segoe UI" panose="020B0502040204020203" charset="0"/>
                <a:cs typeface="Times New Roman" panose="02020603050405020304" pitchFamily="18" charset="0"/>
              </a:rPr>
              <a:t>Rendering lists in React is a common task, and it can be done using the </a:t>
            </a:r>
            <a:r>
              <a:rPr lang="en-IN" sz="1800" b="1" kern="1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  <a:cs typeface="Times New Roman" panose="02020603050405020304" pitchFamily="18" charset="0"/>
              </a:rPr>
              <a:t>map()</a:t>
            </a:r>
            <a:r>
              <a:rPr lang="en-IN" sz="1800" kern="100" dirty="0">
                <a:solidFill>
                  <a:schemeClr val="tx1"/>
                </a:solidFill>
                <a:effectLst/>
                <a:latin typeface="Segoe UI" panose="020B0502040204020203" charset="0"/>
                <a:ea typeface="Segoe UI" panose="020B0502040204020203" charset="0"/>
                <a:cs typeface="Times New Roman" panose="02020603050405020304" pitchFamily="18" charset="0"/>
              </a:rPr>
              <a:t> method to iterate over an array of data and generate JSX elements for each item.</a:t>
            </a:r>
            <a:endParaRPr lang="en-IN" sz="1800" kern="100" dirty="0">
              <a:solidFill>
                <a:schemeClr val="tx1"/>
              </a:solidFill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1800" kern="100" dirty="0">
              <a:solidFill>
                <a:schemeClr val="tx1"/>
              </a:solidFill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5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Keys and their importance</a:t>
            </a:r>
            <a:endParaRPr lang="en-IN" sz="9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2052919"/>
            <a:ext cx="12192000" cy="911508"/>
          </a:xfrm>
        </p:spPr>
        <p:txBody>
          <a:bodyPr>
            <a:normAutofit fontScale="92500" lnSpcReduction="20000"/>
          </a:bodyPr>
          <a:lstStyle/>
          <a:p>
            <a:r>
              <a:rPr lang="en-IN" sz="1800" kern="100" dirty="0">
                <a:effectLst/>
                <a:latin typeface="Segoe UI" panose="020B0502040204020203" charset="0"/>
                <a:ea typeface="Segoe UI" panose="020B0502040204020203" charset="0"/>
                <a:cs typeface="Times New Roman" panose="02020603050405020304" pitchFamily="18" charset="0"/>
              </a:rPr>
              <a:t> Keys in React are special attributes that are used to </a:t>
            </a:r>
            <a:r>
              <a:rPr lang="en-IN" sz="1800" b="1" kern="100" dirty="0">
                <a:effectLst/>
                <a:latin typeface="Segoe UI" panose="020B0502040204020203" charset="0"/>
                <a:ea typeface="Segoe UI" panose="020B0502040204020203" charset="0"/>
                <a:cs typeface="Times New Roman" panose="02020603050405020304" pitchFamily="18" charset="0"/>
              </a:rPr>
              <a:t>uniquely</a:t>
            </a:r>
            <a:r>
              <a:rPr lang="en-IN" sz="1800" kern="100" dirty="0">
                <a:effectLst/>
                <a:latin typeface="Segoe UI" panose="020B0502040204020203" charset="0"/>
                <a:ea typeface="Segoe UI" panose="020B0502040204020203" charset="0"/>
                <a:cs typeface="Times New Roman" panose="02020603050405020304" pitchFamily="18" charset="0"/>
              </a:rPr>
              <a:t> identify components or elements within a list. </a:t>
            </a:r>
            <a:endParaRPr lang="en-IN" sz="1800" kern="100" dirty="0">
              <a:effectLst/>
              <a:latin typeface="Segoe UI" panose="020B0502040204020203" charset="0"/>
              <a:ea typeface="Segoe UI" panose="020B0502040204020203" charset="0"/>
              <a:cs typeface="Times New Roman" panose="02020603050405020304" pitchFamily="18" charset="0"/>
            </a:endParaRPr>
          </a:p>
          <a:p>
            <a:r>
              <a:rPr lang="en-IN" sz="1800" kern="100" dirty="0">
                <a:effectLst/>
                <a:latin typeface="Segoe UI" panose="020B0502040204020203" charset="0"/>
                <a:ea typeface="Segoe UI" panose="020B0502040204020203" charset="0"/>
                <a:cs typeface="Times New Roman" panose="02020603050405020304" pitchFamily="18" charset="0"/>
              </a:rPr>
              <a:t>They are essential for React's reconciliation algorithm, which is responsible for efficiently updating the UI based on changes in data or state.</a:t>
            </a:r>
            <a:endParaRPr lang="en-IN" sz="18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>
                <a:sym typeface="+mn-ea"/>
              </a:rPr>
              <a:t>What is List Rendering?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7180" y="2052955"/>
            <a:ext cx="11642090" cy="4195445"/>
          </a:xfrm>
        </p:spPr>
        <p:txBody>
          <a:bodyPr/>
          <a:p>
            <a:pPr marL="0" indent="457200">
              <a:buNone/>
            </a:pPr>
            <a:r>
              <a:rPr lang="en-US" altLang="en-US"/>
              <a:t>List Rendering means displaying a collection of data (like an array of names, products, or users) as multiple elements on the screen.</a:t>
            </a:r>
            <a:endParaRPr lang="en-US" altLang="en-US"/>
          </a:p>
          <a:p>
            <a:pPr marL="0" indent="457200">
              <a:buNone/>
            </a:pPr>
            <a:r>
              <a:rPr lang="en-US" altLang="en-US"/>
              <a:t>In React, we often use the JavaScript </a:t>
            </a:r>
            <a:r>
              <a:rPr lang="en-US" altLang="en-US" b="1"/>
              <a:t>.map()</a:t>
            </a:r>
            <a:r>
              <a:rPr lang="en-US" altLang="en-US"/>
              <a:t> method to loop through an array and render JSX for each item.</a:t>
            </a:r>
            <a:endParaRPr lang="en-US" altLang="en-US"/>
          </a:p>
          <a:p>
            <a:pPr marL="0" indent="457200">
              <a:buNone/>
            </a:pPr>
            <a:endParaRPr lang="en-US" altLang="en-US"/>
          </a:p>
          <a:p>
            <a:pPr marL="0" indent="457200">
              <a:buNone/>
            </a:pPr>
            <a:r>
              <a:rPr lang="en-US" altLang="en-US"/>
              <a:t>const fruits = ["Apple", "Mango", "Banana", "Orange"];</a:t>
            </a:r>
            <a:endParaRPr lang="en-US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0995" y="129540"/>
            <a:ext cx="11732260" cy="6729095"/>
          </a:xfrm>
        </p:spPr>
        <p:txBody>
          <a:bodyPr>
            <a:normAutofit lnSpcReduction="20000"/>
          </a:bodyPr>
          <a:p>
            <a:pPr>
              <a:buFont typeface="Wingdings" panose="05000000000000000000" charset="0"/>
              <a:buChar char="Ø"/>
            </a:pPr>
            <a:r>
              <a:rPr lang="en-US" altLang="en-US" b="1"/>
              <a:t>Adding Keys</a:t>
            </a:r>
            <a:endParaRPr lang="en-US" altLang="en-US"/>
          </a:p>
          <a:p>
            <a:pPr marL="0" indent="457200">
              <a:buNone/>
            </a:pPr>
            <a:r>
              <a:rPr lang="en-US" altLang="en-US"/>
              <a:t>Each element inside a list must have a unique key prop.</a:t>
            </a:r>
            <a:endParaRPr lang="en-US" altLang="en-US"/>
          </a:p>
          <a:p>
            <a:pPr marL="0" indent="457200">
              <a:buNone/>
            </a:pPr>
            <a:r>
              <a:rPr lang="en-US" altLang="en-US"/>
              <a:t>Keys help React identify which items have changed, been added, or removed.</a:t>
            </a:r>
            <a:endParaRPr lang="en-US" altLang="en-US"/>
          </a:p>
          <a:p>
            <a:pPr marL="0" indent="457200">
              <a:buNone/>
            </a:pPr>
            <a:endParaRPr lang="en-US" altLang="en-US"/>
          </a:p>
          <a:p>
            <a:pPr marL="0" indent="457200">
              <a:buNone/>
            </a:pPr>
            <a:r>
              <a:rPr lang="en-US" altLang="en-US"/>
              <a:t> </a:t>
            </a:r>
            <a:r>
              <a:rPr lang="en-US" altLang="en-US" sz="1800">
                <a:latin typeface="Arial" panose="020B0604020202020204" pitchFamily="34" charset="0"/>
                <a:cs typeface="Arial" panose="020B0604020202020204" pitchFamily="34" charset="0"/>
              </a:rPr>
              <a:t>const students = [</a:t>
            </a:r>
            <a:endParaRPr lang="en-US" altLang="en-US" sz="18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457200">
              <a:buNone/>
            </a:pPr>
            <a:r>
              <a:rPr lang="en-US" altLang="en-US" sz="1800">
                <a:latin typeface="Arial" panose="020B0604020202020204" pitchFamily="34" charset="0"/>
                <a:cs typeface="Arial" panose="020B0604020202020204" pitchFamily="34" charset="0"/>
              </a:rPr>
              <a:t>    { id: 1, name: "Onkar", city: "Pune" },</a:t>
            </a:r>
            <a:endParaRPr lang="en-US" altLang="en-US" sz="18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457200">
              <a:buNone/>
            </a:pPr>
            <a:r>
              <a:rPr lang="en-US" altLang="en-US" sz="1800">
                <a:latin typeface="Arial" panose="020B0604020202020204" pitchFamily="34" charset="0"/>
                <a:cs typeface="Arial" panose="020B0604020202020204" pitchFamily="34" charset="0"/>
              </a:rPr>
              <a:t>    { id: 2, name: "Neha", city: "Mumbai" },</a:t>
            </a:r>
            <a:endParaRPr lang="en-US" altLang="en-US" sz="18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457200">
              <a:buNone/>
            </a:pPr>
            <a:r>
              <a:rPr lang="en-US" altLang="en-US" sz="1800">
                <a:latin typeface="Arial" panose="020B0604020202020204" pitchFamily="34" charset="0"/>
                <a:cs typeface="Arial" panose="020B0604020202020204" pitchFamily="34" charset="0"/>
              </a:rPr>
              <a:t>    { id: 3, name: "Amit", city: "Delhi" },</a:t>
            </a:r>
            <a:endParaRPr lang="en-US" altLang="en-US" sz="18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457200">
              <a:buNone/>
            </a:pPr>
            <a:r>
              <a:rPr lang="en-US" altLang="en-US" sz="1800">
                <a:latin typeface="Arial" panose="020B0604020202020204" pitchFamily="34" charset="0"/>
                <a:cs typeface="Arial" panose="020B0604020202020204" pitchFamily="34" charset="0"/>
              </a:rPr>
              <a:t>  ];</a:t>
            </a:r>
            <a:endParaRPr lang="en-US" altLang="en-US" sz="18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charset="0"/>
              <a:buChar char="Ø"/>
            </a:pPr>
            <a:r>
              <a:rPr lang="en-US" altLang="en-US" b="1"/>
              <a:t>Rendering with a Separate Component</a:t>
            </a:r>
            <a:endParaRPr lang="en-US" altLang="en-US" b="1"/>
          </a:p>
          <a:p>
            <a:pPr marL="0" indent="457200">
              <a:buFont typeface="Wingdings" panose="05000000000000000000" charset="0"/>
              <a:buNone/>
            </a:pPr>
            <a:r>
              <a:rPr lang="en-US" altLang="en-US"/>
              <a:t>You can pass each item as a prop to another component — this improves reusability.</a:t>
            </a:r>
            <a:endParaRPr lang="en-US" altLang="en-US"/>
          </a:p>
          <a:p>
            <a:pPr marL="457200" lvl="1" indent="457200">
              <a:buFont typeface="Wingdings" panose="05000000000000000000" charset="0"/>
              <a:buNone/>
            </a:pP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return (</a:t>
            </a:r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1" indent="457200">
              <a:buFont typeface="Wingdings" panose="05000000000000000000" charset="0"/>
              <a:buNone/>
            </a:pP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    &lt;ul&gt;</a:t>
            </a:r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1" indent="457200">
              <a:buFont typeface="Wingdings" panose="05000000000000000000" charset="0"/>
              <a:buNone/>
            </a:pP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      {students.map((s) =&gt; (</a:t>
            </a:r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1" indent="457200">
              <a:buFont typeface="Wingdings" panose="05000000000000000000" charset="0"/>
              <a:buNone/>
            </a:pP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        &lt;Student key={s.id} name={s.name} city={s.city} /&gt;</a:t>
            </a:r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1" indent="457200">
              <a:buFont typeface="Wingdings" panose="05000000000000000000" charset="0"/>
              <a:buNone/>
            </a:pP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      ))}</a:t>
            </a:r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1" indent="457200">
              <a:buFont typeface="Wingdings" panose="05000000000000000000" charset="0"/>
              <a:buNone/>
            </a:pP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    &lt;/ul&gt;</a:t>
            </a:r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1" indent="457200">
              <a:buFont typeface="Wingdings" panose="05000000000000000000" charset="0"/>
              <a:buNone/>
            </a:pP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  );</a:t>
            </a:r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4470" y="125095"/>
            <a:ext cx="9845040" cy="6123305"/>
          </a:xfrm>
        </p:spPr>
        <p:txBody>
          <a:bodyPr/>
          <a:p>
            <a:r>
              <a:rPr lang="en-US" altLang="en-US" b="1"/>
              <a:t>Conditional Rendering Inside Lists</a:t>
            </a:r>
            <a:endParaRPr lang="en-US" altLang="en-US" b="1"/>
          </a:p>
          <a:p>
            <a:pPr marL="0" indent="457200">
              <a:buNone/>
            </a:pPr>
            <a:r>
              <a:rPr lang="en-US" altLang="en-US" sz="1800">
                <a:latin typeface="Arial" panose="020B0604020202020204" pitchFamily="34" charset="0"/>
                <a:cs typeface="Arial" panose="020B0604020202020204" pitchFamily="34" charset="0"/>
              </a:rPr>
              <a:t>{product.name} {product.available ? "✅" : "❌"}</a:t>
            </a:r>
            <a:endParaRPr lang="en-US" altLang="en-US" sz="18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useEffect hook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03312" y="2052919"/>
            <a:ext cx="11088688" cy="4189386"/>
          </a:xfrm>
        </p:spPr>
        <p:txBody>
          <a:bodyPr/>
          <a:lstStyle/>
          <a:p>
            <a:r>
              <a:rPr lang="en-IN" sz="1800" b="1" dirty="0" err="1">
                <a:solidFill>
                  <a:srgbClr val="ECECEC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</a:rPr>
              <a:t>useEffect</a:t>
            </a:r>
            <a:r>
              <a:rPr lang="en-IN" sz="1800" dirty="0">
                <a:solidFill>
                  <a:srgbClr val="ECECEC"/>
                </a:solidFill>
                <a:effectLst/>
                <a:latin typeface="Segoe UI" panose="020B0502040204020203" charset="0"/>
                <a:ea typeface="Segoe UI" panose="020B0502040204020203" charset="0"/>
              </a:rPr>
              <a:t> is used to perform side effects in functional components. </a:t>
            </a:r>
            <a:endParaRPr lang="en-IN" sz="1800" dirty="0">
              <a:solidFill>
                <a:srgbClr val="ECECEC"/>
              </a:solidFill>
              <a:effectLst/>
              <a:latin typeface="Segoe UI" panose="020B0502040204020203" charset="0"/>
              <a:ea typeface="Segoe UI" panose="020B0502040204020203" charset="0"/>
            </a:endParaRPr>
          </a:p>
          <a:p>
            <a:r>
              <a:rPr lang="en-IN" sz="1800" dirty="0">
                <a:solidFill>
                  <a:srgbClr val="ECECEC"/>
                </a:solidFill>
                <a:effectLst/>
                <a:latin typeface="Segoe UI" panose="020B0502040204020203" charset="0"/>
                <a:ea typeface="Segoe UI" panose="020B0502040204020203" charset="0"/>
              </a:rPr>
              <a:t>It replaces lifecycle methods like </a:t>
            </a:r>
            <a:r>
              <a:rPr lang="en-IN" sz="1800" b="1" dirty="0" err="1">
                <a:solidFill>
                  <a:srgbClr val="ECECEC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</a:rPr>
              <a:t>componentDidMount</a:t>
            </a:r>
            <a:r>
              <a:rPr lang="en-IN" sz="1800" dirty="0">
                <a:solidFill>
                  <a:srgbClr val="ECECEC"/>
                </a:solidFill>
                <a:effectLst/>
                <a:latin typeface="Segoe UI" panose="020B0502040204020203" charset="0"/>
                <a:ea typeface="Segoe UI" panose="020B0502040204020203" charset="0"/>
              </a:rPr>
              <a:t>, </a:t>
            </a:r>
            <a:r>
              <a:rPr lang="en-IN" sz="1800" b="1" dirty="0" err="1">
                <a:solidFill>
                  <a:srgbClr val="ECECEC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</a:rPr>
              <a:t>componentDidUpdate</a:t>
            </a:r>
            <a:r>
              <a:rPr lang="en-IN" sz="1800" dirty="0">
                <a:solidFill>
                  <a:srgbClr val="ECECEC"/>
                </a:solidFill>
                <a:effectLst/>
                <a:latin typeface="Segoe UI" panose="020B0502040204020203" charset="0"/>
                <a:ea typeface="Segoe UI" panose="020B0502040204020203" charset="0"/>
              </a:rPr>
              <a:t>, and </a:t>
            </a:r>
            <a:r>
              <a:rPr lang="en-IN" sz="1800" b="1" dirty="0" err="1">
                <a:solidFill>
                  <a:srgbClr val="ECECEC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</a:rPr>
              <a:t>componentWillUnmount</a:t>
            </a:r>
            <a:r>
              <a:rPr lang="en-IN" sz="1800" b="1" dirty="0">
                <a:solidFill>
                  <a:srgbClr val="ECECEC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</a:rPr>
              <a:t>.</a:t>
            </a:r>
            <a:endParaRPr lang="en-IN" sz="1800" b="1" dirty="0">
              <a:solidFill>
                <a:srgbClr val="ECECEC"/>
              </a:solidFill>
              <a:effectLst/>
              <a:latin typeface="Courier New" panose="02070309020205020404" pitchFamily="49" charset="0"/>
              <a:ea typeface="Courier New" panose="02070309020205020404" pitchFamily="49" charset="0"/>
            </a:endParaRPr>
          </a:p>
          <a:p>
            <a:endParaRPr lang="en-IN" sz="1800" b="1" dirty="0">
              <a:solidFill>
                <a:srgbClr val="ECECEC"/>
              </a:solidFill>
              <a:latin typeface="Courier New" panose="02070309020205020404" pitchFamily="49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IN" sz="1800" b="1" kern="100" dirty="0">
                <a:solidFill>
                  <a:srgbClr val="ECECEC"/>
                </a:solidFill>
                <a:effectLst/>
                <a:latin typeface="Segoe UI" panose="020B0502040204020203" charset="0"/>
                <a:ea typeface="Segoe UI" panose="020B0502040204020203" charset="0"/>
                <a:cs typeface="Times New Roman" panose="02020603050405020304" pitchFamily="18" charset="0"/>
              </a:rPr>
              <a:t>Effect function</a:t>
            </a:r>
            <a:r>
              <a:rPr lang="en-IN" sz="1800" kern="100" dirty="0">
                <a:solidFill>
                  <a:srgbClr val="ECECEC"/>
                </a:solidFill>
                <a:effectLst/>
                <a:latin typeface="Segoe UI" panose="020B0502040204020203" charset="0"/>
                <a:ea typeface="Segoe UI" panose="020B0502040204020203" charset="0"/>
                <a:cs typeface="Times New Roman" panose="02020603050405020304" pitchFamily="18" charset="0"/>
              </a:rPr>
              <a:t>: A function that contains the side effect logic.</a:t>
            </a:r>
            <a:endParaRPr lang="en-IN" sz="18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IN" sz="1800" b="1" kern="100" dirty="0">
                <a:solidFill>
                  <a:srgbClr val="ECECEC"/>
                </a:solidFill>
                <a:effectLst/>
                <a:latin typeface="Segoe UI" panose="020B0502040204020203" charset="0"/>
                <a:ea typeface="Segoe UI" panose="020B0502040204020203" charset="0"/>
                <a:cs typeface="Times New Roman" panose="02020603050405020304" pitchFamily="18" charset="0"/>
              </a:rPr>
              <a:t>Dependencies array (optional)</a:t>
            </a:r>
            <a:r>
              <a:rPr lang="en-IN" sz="1800" kern="100" dirty="0">
                <a:solidFill>
                  <a:srgbClr val="ECECEC"/>
                </a:solidFill>
                <a:effectLst/>
                <a:latin typeface="Segoe UI" panose="020B0502040204020203" charset="0"/>
                <a:ea typeface="Segoe UI" panose="020B0502040204020203" charset="0"/>
                <a:cs typeface="Times New Roman" panose="02020603050405020304" pitchFamily="18" charset="0"/>
              </a:rPr>
              <a:t>: An array of values (props or state) that the effect depends on. If any value in the dependencies array changes, the effect will be re-run.</a:t>
            </a:r>
            <a:endParaRPr lang="en-IN" sz="18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0830" y="130175"/>
            <a:ext cx="11807190" cy="6617970"/>
          </a:xfrm>
        </p:spPr>
        <p:txBody>
          <a:bodyPr/>
          <a:p>
            <a:r>
              <a:rPr lang="en-US" altLang="en-US"/>
              <a:t>Examples of side effects include:</a:t>
            </a:r>
            <a:endParaRPr lang="en-US" altLang="en-US"/>
          </a:p>
          <a:p>
            <a:r>
              <a:rPr lang="en-US" altLang="en-US"/>
              <a:t>Fetching data from an API</a:t>
            </a:r>
            <a:endParaRPr lang="en-US" altLang="en-US"/>
          </a:p>
          <a:p>
            <a:r>
              <a:rPr lang="en-US" altLang="en-US"/>
              <a:t>Setting up event listeners</a:t>
            </a:r>
            <a:endParaRPr lang="en-US" altLang="en-US"/>
          </a:p>
          <a:p>
            <a:r>
              <a:rPr lang="en-US" altLang="en-US"/>
              <a:t>Manipulating the DOM</a:t>
            </a:r>
            <a:endParaRPr lang="en-US" altLang="en-US"/>
          </a:p>
          <a:p>
            <a:r>
              <a:rPr lang="en-US" altLang="en-US"/>
              <a:t>Setting timers</a:t>
            </a:r>
            <a:endParaRPr lang="en-US" altLang="en-US"/>
          </a:p>
          <a:p>
            <a:endParaRPr lang="en-US" altLang="en-US"/>
          </a:p>
          <a:p>
            <a:pPr marL="0" indent="0">
              <a:buNone/>
            </a:pPr>
            <a:r>
              <a:rPr lang="en-US" altLang="en-US"/>
              <a:t>Syntax</a:t>
            </a:r>
            <a:endParaRPr lang="en-US" altLang="en-US"/>
          </a:p>
          <a:p>
            <a:pPr marL="0" indent="457200">
              <a:buNone/>
            </a:pPr>
            <a:r>
              <a:rPr lang="en-US" altLang="en-US"/>
              <a:t>useEffect(() =&gt; {</a:t>
            </a:r>
            <a:endParaRPr lang="en-US" altLang="en-US"/>
          </a:p>
          <a:p>
            <a:pPr marL="0" indent="457200">
              <a:buNone/>
            </a:pPr>
            <a:r>
              <a:rPr lang="en-US" altLang="en-US"/>
              <a:t>  // code to run after render (side-effect)</a:t>
            </a:r>
            <a:endParaRPr lang="en-US" altLang="en-US"/>
          </a:p>
          <a:p>
            <a:pPr marL="0" indent="457200">
              <a:buNone/>
            </a:pPr>
            <a:r>
              <a:rPr lang="en-US" altLang="en-US"/>
              <a:t>  </a:t>
            </a:r>
            <a:endParaRPr lang="en-US" altLang="en-US"/>
          </a:p>
          <a:p>
            <a:pPr marL="0" indent="457200">
              <a:buNone/>
            </a:pPr>
            <a:r>
              <a:rPr lang="en-US" altLang="en-US"/>
              <a:t>  return () =&gt; {</a:t>
            </a:r>
            <a:endParaRPr lang="en-US" altLang="en-US"/>
          </a:p>
          <a:p>
            <a:pPr marL="0" indent="457200">
              <a:buNone/>
            </a:pPr>
            <a:r>
              <a:rPr lang="en-US" altLang="en-US"/>
              <a:t>    // cleanup code (optional)</a:t>
            </a:r>
            <a:endParaRPr lang="en-US" altLang="en-US"/>
          </a:p>
          <a:p>
            <a:pPr marL="0" indent="457200">
              <a:buNone/>
            </a:pPr>
            <a:r>
              <a:rPr lang="en-US" altLang="en-US"/>
              <a:t>  };</a:t>
            </a:r>
            <a:endParaRPr lang="en-US" altLang="en-US"/>
          </a:p>
          <a:p>
            <a:pPr marL="0" indent="457200">
              <a:buNone/>
            </a:pPr>
            <a:r>
              <a:rPr lang="en-US" altLang="en-US"/>
              <a:t>}, [dependencies]);</a:t>
            </a:r>
            <a:endParaRPr lang="en-US" altLang="en-US"/>
          </a:p>
          <a:p>
            <a:pPr marL="0" indent="457200">
              <a:buNone/>
            </a:pPr>
            <a:endParaRPr lang="en-US" alt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3200" y="142240"/>
            <a:ext cx="11857355" cy="6618605"/>
          </a:xfrm>
        </p:spPr>
        <p:txBody>
          <a:bodyPr/>
          <a:p>
            <a:r>
              <a:rPr lang="en-US" altLang="en-US"/>
              <a:t>Explanation of Parameters</a:t>
            </a:r>
            <a:endParaRPr lang="en-US" altLang="en-US"/>
          </a:p>
          <a:p>
            <a:endParaRPr lang="en-US" altLang="en-US"/>
          </a:p>
        </p:txBody>
      </p:sp>
      <p:graphicFrame>
        <p:nvGraphicFramePr>
          <p:cNvPr id="4" name="Table 3"/>
          <p:cNvGraphicFramePr/>
          <p:nvPr>
            <p:custDataLst>
              <p:tags r:id="rId1"/>
            </p:custDataLst>
          </p:nvPr>
        </p:nvGraphicFramePr>
        <p:xfrm>
          <a:off x="467360" y="750570"/>
          <a:ext cx="10871200" cy="1778000"/>
        </p:xfrm>
        <a:graphic>
          <a:graphicData uri="http://schemas.openxmlformats.org/drawingml/2006/table">
            <a:tbl>
              <a:tblPr/>
              <a:tblGrid>
                <a:gridCol w="5435600"/>
                <a:gridCol w="5435600"/>
              </a:tblGrid>
              <a:tr h="444500">
                <a:tc>
                  <a:txBody>
                    <a:bodyPr/>
                    <a:p>
                      <a:r>
                        <a:rPr sz="1100"/>
                        <a:t>Part</a:t>
                      </a:r>
                      <a:endParaRPr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1100"/>
                        <a:t>Description</a:t>
                      </a:r>
                      <a:endParaRPr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444500">
                <a:tc>
                  <a:txBody>
                    <a:bodyPr/>
                    <a:p>
                      <a:r>
                        <a:rPr sz="1100"/>
                        <a:t>() =&gt; {}</a:t>
                      </a:r>
                      <a:endParaRPr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1100"/>
                        <a:t>Callback function where you write your side effect logic.</a:t>
                      </a:r>
                      <a:endParaRPr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444500">
                <a:tc>
                  <a:txBody>
                    <a:bodyPr/>
                    <a:p>
                      <a:r>
                        <a:rPr sz="1100"/>
                        <a:t>return () =&gt; {}</a:t>
                      </a:r>
                      <a:endParaRPr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1100"/>
                        <a:t>(Optional) Cleanup function to remove listeners, timers, etc.</a:t>
                      </a:r>
                      <a:endParaRPr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444500">
                <a:tc>
                  <a:txBody>
                    <a:bodyPr/>
                    <a:p>
                      <a:r>
                        <a:rPr sz="1100"/>
                        <a:t>[dependencies]</a:t>
                      </a:r>
                      <a:endParaRPr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1100"/>
                        <a:t>Array that controls when the effect runs.</a:t>
                      </a:r>
                      <a:endParaRPr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290830" y="130175"/>
            <a:ext cx="11807190" cy="6617970"/>
          </a:xfrm>
        </p:spPr>
        <p:txBody>
          <a:bodyPr/>
          <a:p>
            <a:pPr>
              <a:buFont typeface="Wingdings" panose="05000000000000000000" charset="0"/>
              <a:buChar char="Ø"/>
            </a:pPr>
            <a:r>
              <a:rPr lang="en-US" altLang="en-US"/>
              <a:t>Run on every render</a:t>
            </a:r>
            <a:endParaRPr lang="en-US" altLang="en-US"/>
          </a:p>
          <a:p>
            <a:pPr marL="0" indent="457200">
              <a:buNone/>
            </a:pPr>
            <a:r>
              <a:rPr lang="en-US" altLang="en-US"/>
              <a:t>useEffect(() =&gt; {</a:t>
            </a:r>
            <a:endParaRPr lang="en-US" altLang="en-US"/>
          </a:p>
          <a:p>
            <a:pPr marL="0" indent="457200">
              <a:buNone/>
            </a:pPr>
            <a:r>
              <a:rPr lang="en-US" altLang="en-US"/>
              <a:t>  console.log("Component rendered or updated");</a:t>
            </a:r>
            <a:endParaRPr lang="en-US" altLang="en-US"/>
          </a:p>
          <a:p>
            <a:pPr marL="0" indent="457200">
              <a:buNone/>
            </a:pPr>
            <a:r>
              <a:rPr lang="en-US" altLang="en-US"/>
              <a:t>});</a:t>
            </a:r>
            <a:endParaRPr lang="en-US" altLang="en-US"/>
          </a:p>
          <a:p>
            <a:pPr marL="0" indent="457200">
              <a:buNone/>
            </a:pPr>
            <a:r>
              <a:rPr lang="en-US" altLang="en-US">
                <a:sym typeface="+mn-ea"/>
              </a:rPr>
              <a:t>Run only on mount (first render)</a:t>
            </a:r>
            <a:endParaRPr lang="en-US" altLang="en-US">
              <a:sym typeface="+mn-ea"/>
            </a:endParaRPr>
          </a:p>
          <a:p>
            <a:pPr marL="0" indent="457200">
              <a:buNone/>
            </a:pPr>
            <a:r>
              <a:rPr lang="en-US" altLang="en-US"/>
              <a:t>useEffect(() =&gt; {</a:t>
            </a:r>
            <a:endParaRPr lang="en-US" altLang="en-US"/>
          </a:p>
          <a:p>
            <a:pPr marL="0" indent="457200">
              <a:buNone/>
            </a:pPr>
            <a:r>
              <a:rPr lang="en-US" altLang="en-US"/>
              <a:t>  console.log("Component mounted");</a:t>
            </a:r>
            <a:endParaRPr lang="en-US" altLang="en-US"/>
          </a:p>
          <a:p>
            <a:pPr marL="0" indent="457200">
              <a:buNone/>
            </a:pPr>
            <a:r>
              <a:rPr lang="en-US" altLang="en-US"/>
              <a:t>}, []);</a:t>
            </a:r>
            <a:endParaRPr lang="en-US" altLang="en-US"/>
          </a:p>
          <a:p>
            <a:pPr marL="0" indent="457200">
              <a:buNone/>
            </a:pPr>
            <a:endParaRPr lang="en-US" altLang="en-US"/>
          </a:p>
          <a:p>
            <a:pPr>
              <a:buFont typeface="Wingdings" panose="05000000000000000000" charset="0"/>
              <a:buChar char="Ø"/>
            </a:pPr>
            <a:r>
              <a:rPr lang="en-US" altLang="en-US"/>
              <a:t>Run only when specific data changes</a:t>
            </a:r>
            <a:endParaRPr lang="en-US" altLang="en-US"/>
          </a:p>
          <a:p>
            <a:pPr marL="0" indent="457200">
              <a:buNone/>
            </a:pPr>
            <a:r>
              <a:rPr lang="en-US" altLang="en-US"/>
              <a:t>useEffect(() =&gt; {</a:t>
            </a:r>
            <a:endParaRPr lang="en-US" altLang="en-US"/>
          </a:p>
          <a:p>
            <a:pPr marL="0" indent="457200">
              <a:buNone/>
            </a:pPr>
            <a:r>
              <a:rPr lang="en-US" altLang="en-US"/>
              <a:t>  console.log("Count changed");</a:t>
            </a:r>
            <a:endParaRPr lang="en-US" altLang="en-US"/>
          </a:p>
          <a:p>
            <a:pPr marL="0" indent="457200">
              <a:buNone/>
            </a:pPr>
            <a:r>
              <a:rPr lang="en-US" altLang="en-US"/>
              <a:t>}, [count]);</a:t>
            </a:r>
            <a:endParaRPr lang="en-US" altLang="en-US"/>
          </a:p>
          <a:p>
            <a:pPr marL="0" indent="457200">
              <a:buNone/>
            </a:pPr>
            <a:endParaRPr lang="en-US" altLang="en-US"/>
          </a:p>
          <a:p>
            <a:pPr marL="0" indent="457200">
              <a:buNone/>
            </a:pPr>
            <a:endParaRPr lang="en-US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670" y="179705"/>
            <a:ext cx="11844020" cy="6555105"/>
          </a:xfrm>
        </p:spPr>
        <p:txBody>
          <a:bodyPr/>
          <a:p>
            <a:r>
              <a:rPr lang="en-US" altLang="en-US"/>
              <a:t>Cleanup on unmount</a:t>
            </a:r>
            <a:endParaRPr lang="en-US" altLang="en-US"/>
          </a:p>
          <a:p>
            <a:endParaRPr lang="en-US" altLang="en-US"/>
          </a:p>
          <a:p>
            <a:pPr marL="0" indent="0">
              <a:buNone/>
            </a:pPr>
            <a:r>
              <a:rPr lang="en-US" altLang="en-US"/>
              <a:t>useEffect(() =&gt; {</a:t>
            </a:r>
            <a:endParaRPr lang="en-US" altLang="en-US"/>
          </a:p>
          <a:p>
            <a:pPr marL="0" indent="0">
              <a:buNone/>
            </a:pPr>
            <a:r>
              <a:rPr lang="en-US" altLang="en-US"/>
              <a:t>  const timer = setInterval(() =&gt; {</a:t>
            </a:r>
            <a:endParaRPr lang="en-US" altLang="en-US"/>
          </a:p>
          <a:p>
            <a:pPr marL="0" indent="0">
              <a:buNone/>
            </a:pPr>
            <a:r>
              <a:rPr lang="en-US" altLang="en-US"/>
              <a:t>    console.log("Timer running");</a:t>
            </a:r>
            <a:endParaRPr lang="en-US" altLang="en-US"/>
          </a:p>
          <a:p>
            <a:pPr marL="0" indent="0">
              <a:buNone/>
            </a:pPr>
            <a:r>
              <a:rPr lang="en-US" altLang="en-US"/>
              <a:t>  }, 1000);</a:t>
            </a:r>
            <a:endParaRPr lang="en-US" altLang="en-US"/>
          </a:p>
          <a:p>
            <a:pPr marL="0" indent="0">
              <a:buNone/>
            </a:pPr>
            <a:endParaRPr lang="en-US" altLang="en-US"/>
          </a:p>
          <a:p>
            <a:pPr marL="0" indent="0">
              <a:buNone/>
            </a:pPr>
            <a:r>
              <a:rPr lang="en-US" altLang="en-US"/>
              <a:t>  return () =&gt; clearInterval(timer); // cleanup</a:t>
            </a:r>
            <a:endParaRPr lang="en-US" altLang="en-US"/>
          </a:p>
          <a:p>
            <a:pPr marL="0" indent="0">
              <a:buNone/>
            </a:pPr>
            <a:r>
              <a:rPr lang="en-US" altLang="en-US"/>
              <a:t>}, []);</a:t>
            </a:r>
            <a:endParaRPr lang="en-US" altLang="en-US"/>
          </a:p>
          <a:p>
            <a:pPr marL="0" indent="0">
              <a:buNone/>
            </a:pPr>
            <a:endParaRPr lang="en-US" alt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855*139"/>
  <p:tag name="TABLE_ENDDRAG_RECT" val="36*156*855*139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5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>
            <a:fillRect/>
          </a:stretch>
        </a:blip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0</TotalTime>
  <Words>6123</Words>
  <Application>WPS Presentation</Application>
  <PresentationFormat>Widescreen</PresentationFormat>
  <Paragraphs>236</Paragraphs>
  <Slides>23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38" baseType="lpstr">
      <vt:lpstr>Arial</vt:lpstr>
      <vt:lpstr>SimSun</vt:lpstr>
      <vt:lpstr>Wingdings</vt:lpstr>
      <vt:lpstr>Wingdings 3</vt:lpstr>
      <vt:lpstr>Arial</vt:lpstr>
      <vt:lpstr>Calibri</vt:lpstr>
      <vt:lpstr>Times New Roman</vt:lpstr>
      <vt:lpstr>Aptos</vt:lpstr>
      <vt:lpstr>Segoe UI</vt:lpstr>
      <vt:lpstr>Century Gothic</vt:lpstr>
      <vt:lpstr>Microsoft YaHei</vt:lpstr>
      <vt:lpstr>Arial Unicode MS</vt:lpstr>
      <vt:lpstr>Courier New</vt:lpstr>
      <vt:lpstr>Wingdings</vt:lpstr>
      <vt:lpstr>Ion</vt:lpstr>
      <vt:lpstr>React</vt:lpstr>
      <vt:lpstr>What is React.js?</vt:lpstr>
      <vt:lpstr>What is Single Page Application?</vt:lpstr>
      <vt:lpstr>What is Component in React?</vt:lpstr>
      <vt:lpstr>Creating First React.js Application</vt:lpstr>
      <vt:lpstr>What is JSX?</vt:lpstr>
      <vt:lpstr>PowerPoint 演示文稿</vt:lpstr>
      <vt:lpstr>PowerPoint 演示文稿</vt:lpstr>
      <vt:lpstr>PowerPoint 演示文稿</vt:lpstr>
      <vt:lpstr>PROPS</vt:lpstr>
      <vt:lpstr>State in React</vt:lpstr>
      <vt:lpstr>Hooks</vt:lpstr>
      <vt:lpstr>useState Hook</vt:lpstr>
      <vt:lpstr>Rendering Lists</vt:lpstr>
      <vt:lpstr>Keys and their importance</vt:lpstr>
      <vt:lpstr>What is List Rendering?</vt:lpstr>
      <vt:lpstr>PowerPoint 演示文稿</vt:lpstr>
      <vt:lpstr>PowerPoint 演示文稿</vt:lpstr>
      <vt:lpstr>useEffect hook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Onkar B</dc:creator>
  <cp:lastModifiedBy>Onkar Bhawar</cp:lastModifiedBy>
  <cp:revision>15</cp:revision>
  <dcterms:created xsi:type="dcterms:W3CDTF">2024-11-19T04:57:00Z</dcterms:created>
  <dcterms:modified xsi:type="dcterms:W3CDTF">2025-10-31T16:44:39Z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1BF5A5A1B3684D26A3F0F259FF749962_12</vt:lpwstr>
  </property>
  <property fmtid="{D5CDD505-2E9C-101B-9397-08002B2CF9AE}" pid="3" name="KSOProductBuildVer">
    <vt:lpwstr>1033-12.2.0.23131</vt:lpwstr>
  </property>
</Properties>
</file>